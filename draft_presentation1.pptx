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14F74-5CBB-51C1-10BF-013891578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01B62-09E6-4365-25F8-F6B6DDD90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FC1B4-D6FF-0253-0F67-4995F0BE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54AF5-04A9-6B7F-0BF8-9B702F23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F0A77-1E00-7693-57F5-DF6979E0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69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053D-E8E9-B712-3B6C-47651B87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A00B6-8DEE-A710-CFB5-5AA178AE3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50AF0-30D5-D291-D8E1-AC6F9EFA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37E96-CF9A-32C0-511C-181FC1129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3AD69-A255-F12D-2AC6-79D55D29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76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2FD0-F6DD-2E91-3EBE-A789A731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E13D6-7DFF-6C27-061A-F55C3AA7E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304BC-8640-5999-E8A3-1B12C62E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8EA71-A80D-2427-C289-C4DA11232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0F125-9C99-1016-2070-59723EAFA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1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69F5-D27E-3FFD-103B-8C60B37B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D0151-5E89-1BED-60F6-E22D328F2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A0745-DA0C-3D57-37ED-845741E6A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BC59C-3B4A-2AF6-218F-0B83DCF3A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0D6E6-F97A-FC2C-42C6-79AC90B1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BACF2-80C0-A7EB-66C9-758BDD4D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124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12F1-F805-D5AC-2EE6-DC25951C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F6A3E-22DB-3105-BBAD-83E50FD8F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D7016-6468-96CB-00AF-07FE1D49C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CDA40B-9677-49FB-DA62-9BE1550D9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7F3356-77EF-A9F2-5CF4-53DF65A23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F6D188-D2A5-A537-195E-F429C279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1EED0-3812-77C7-F391-8DF7C12B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C43A0F-A296-8EF8-6EF8-67E2E726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99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0E2F-C1BE-0A1A-4174-CEBB1169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F54748-7F74-E91A-56A7-582865D2F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A8839-1C71-3850-8680-D78F6A4D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15A70-9484-F88A-35B0-1A603D8D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4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0AD8B-1FC3-2CD5-D6AA-DFA50183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8BD41-DBBE-E7A2-6605-A6E66FAC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0E49B-9439-BF46-B9D5-87C37E62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5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2E98-7E69-D092-A757-B53CEDD2F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9682-9ACE-5114-3D9B-D8BCF2E0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0E19-8A88-C554-0BE5-FC5054CE3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A85D8-B5F6-AD59-9710-A10223C0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99A60-399B-D132-8C2C-88F8DFB7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0EE3C-F071-29E7-3955-E86DDF58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29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99D4-E685-6538-2A3C-A9617A0F5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A901F-D8AF-FDE9-D47B-C080DEAA6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AF4D9-41B6-6EAD-E8C8-3D91CEB59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D8D15-B01B-5DF1-AA49-7B5C9724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902D9-6153-830A-3CAE-99225C6B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CDB5F-8953-2D91-8F6C-8FCD0435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518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E1FB-13C0-61BD-ACAA-092B2F6B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D665B-C39A-A856-57CF-187BB1A49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D5D0E-5527-00DD-DBC7-78FBA969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D5BAA-D500-7DE4-653A-D0086004D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F5135-1F91-01D7-67A2-CD79037D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50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34D9B-C678-C658-E094-AA311C97E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0A8D3-4AF2-B1A2-DEA0-F28567AA4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D7C53-75A8-44B3-443B-1F8E77868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EF27A-27C6-9194-E898-6422D6C7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07316-1567-A878-F0C3-19B93987D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2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E430F-30CF-452F-E455-066373C99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D0D1F-F953-60DE-2385-C5AADD617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031F6-3405-A826-1FE6-6CA224A01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C7F3F-024C-4B26-8001-7417A1C223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348D9-F2BF-849E-CF8E-49367C44E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7C327-C61D-02D2-E88F-E0957BBF7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FBD23-FEA8-4F0F-BF80-9EA44F525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66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45457CB1-AA8C-54BB-115F-DA62F65F0D86}"/>
              </a:ext>
            </a:extLst>
          </p:cNvPr>
          <p:cNvSpPr txBox="1"/>
          <p:nvPr/>
        </p:nvSpPr>
        <p:spPr>
          <a:xfrm>
            <a:off x="515762" y="1072279"/>
            <a:ext cx="11407416" cy="2076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2500" b="1" dirty="0">
                <a:latin typeface="+mj-lt"/>
                <a:ea typeface="Times New Roman Bold"/>
                <a:cs typeface="Times New Roman Bold"/>
                <a:sym typeface="Times New Roman Bold"/>
              </a:rPr>
              <a:t>Department of Information Science and Engineering </a:t>
            </a:r>
          </a:p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endParaRPr lang="en-US" sz="3000" b="1" dirty="0">
              <a:latin typeface="+mj-lt"/>
              <a:ea typeface="Times New Roman Bold"/>
              <a:cs typeface="Times New Roman Bold"/>
              <a:sym typeface="Times New Roman Bold"/>
            </a:endParaRPr>
          </a:p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000" b="1" dirty="0">
                <a:latin typeface="+mj-lt"/>
                <a:ea typeface="Times New Roman Bold"/>
                <a:cs typeface="Times New Roman Bold"/>
                <a:sym typeface="Times New Roman Bold"/>
              </a:rPr>
              <a:t>Title: Adaptive Multi-Agent LLM System for </a:t>
            </a:r>
            <a:r>
              <a:rPr lang="en-IN" sz="3000" b="1" dirty="0">
                <a:latin typeface="+mj-lt"/>
              </a:rPr>
              <a:t>Micro-Enterprise Generator</a:t>
            </a:r>
            <a:endParaRPr lang="en-US" sz="3000" b="1" dirty="0">
              <a:latin typeface="+mj-lt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D1A78D2-2F20-8AC6-1D26-ADD7E3D0C72C}"/>
              </a:ext>
            </a:extLst>
          </p:cNvPr>
          <p:cNvSpPr txBox="1"/>
          <p:nvPr/>
        </p:nvSpPr>
        <p:spPr>
          <a:xfrm>
            <a:off x="810730" y="4386192"/>
            <a:ext cx="3593123" cy="2260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DM Sans Bold"/>
                <a:cs typeface="DM Sans Bold"/>
                <a:sym typeface="DM Sans Bold"/>
              </a:rPr>
              <a:t>TEAM MEMBERS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+mj-lt"/>
                <a:ea typeface="DM Sans Bold"/>
                <a:cs typeface="DM Sans Bold"/>
                <a:sym typeface="DM Sans Bold"/>
              </a:rPr>
              <a:t>Bhoomika N – 4VV23IS038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+mj-lt"/>
                <a:ea typeface="DM Sans Bold"/>
                <a:cs typeface="DM Sans Bold"/>
                <a:sym typeface="DM Sans Bold"/>
              </a:rPr>
              <a:t>Sanjula S – 4VV23IS194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+mj-lt"/>
                <a:ea typeface="DM Sans Bold"/>
                <a:cs typeface="DM Sans Bold"/>
                <a:sym typeface="DM Sans Bold"/>
              </a:rPr>
              <a:t>Shreya B J – 4VV23IS207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+mj-lt"/>
              <a:ea typeface="DM Sans"/>
              <a:cs typeface="DM Sans"/>
              <a:sym typeface="DM Sans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F4FC5B65-7732-41AB-14CB-F066DE77C55F}"/>
              </a:ext>
            </a:extLst>
          </p:cNvPr>
          <p:cNvSpPr txBox="1"/>
          <p:nvPr/>
        </p:nvSpPr>
        <p:spPr>
          <a:xfrm>
            <a:off x="7904583" y="4386192"/>
            <a:ext cx="3936259" cy="2722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DM Sans Bold"/>
                <a:cs typeface="DM Sans Bold"/>
                <a:sym typeface="DM Sans Bold"/>
              </a:rPr>
              <a:t>UNDER THE GUIDANCE OF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+mj-lt"/>
                <a:ea typeface="DM Sans"/>
                <a:cs typeface="DM Sans"/>
                <a:sym typeface="DM Sans"/>
              </a:rPr>
              <a:t>Prof Aishwarya T 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+mj-lt"/>
                <a:ea typeface="DM Sans"/>
                <a:cs typeface="DM Sans"/>
                <a:sym typeface="DM Sans"/>
              </a:rPr>
              <a:t>Assistant Professor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+mj-lt"/>
                <a:ea typeface="DM Sans"/>
                <a:cs typeface="DM Sans"/>
                <a:sym typeface="DM Sans"/>
              </a:rPr>
              <a:t> Dept. of ISE, VVCE</a:t>
            </a:r>
          </a:p>
          <a:p>
            <a:pPr algn="ctr">
              <a:lnSpc>
                <a:spcPct val="150000"/>
              </a:lnSpc>
            </a:pPr>
            <a:endParaRPr lang="en-US" sz="2000" dirty="0">
              <a:solidFill>
                <a:srgbClr val="000000"/>
              </a:solidFill>
              <a:latin typeface="+mj-lt"/>
              <a:ea typeface="DM Sans"/>
              <a:cs typeface="DM Sans"/>
              <a:sym typeface="DM Sans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+mj-lt"/>
              <a:ea typeface="DM Sans"/>
              <a:cs typeface="DM Sans"/>
              <a:sym typeface="DM Sans"/>
            </a:endParaRP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FBDB36BB-AE9A-D5FE-2ED7-91F965F77293}"/>
              </a:ext>
            </a:extLst>
          </p:cNvPr>
          <p:cNvSpPr/>
          <p:nvPr/>
        </p:nvSpPr>
        <p:spPr>
          <a:xfrm>
            <a:off x="351158" y="203779"/>
            <a:ext cx="9422108" cy="1566027"/>
          </a:xfrm>
          <a:custGeom>
            <a:avLst/>
            <a:gdLst/>
            <a:ahLst/>
            <a:cxnLst/>
            <a:rect l="l" t="t" r="r" b="b"/>
            <a:pathLst>
              <a:path w="17987676" h="1976792">
                <a:moveTo>
                  <a:pt x="0" y="0"/>
                </a:moveTo>
                <a:lnTo>
                  <a:pt x="17987676" y="0"/>
                </a:lnTo>
                <a:lnTo>
                  <a:pt x="17987676" y="1976792"/>
                </a:lnTo>
                <a:lnTo>
                  <a:pt x="0" y="1976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37" r="-18527" b="-15050"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668AD-D259-3337-EEF8-21FABC070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050" y="127594"/>
            <a:ext cx="1552792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5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BA3A6-0369-41C0-E1C2-2B10437C4D00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38C91DC7-083E-33E3-EC92-349D9053292E}"/>
              </a:ext>
            </a:extLst>
          </p:cNvPr>
          <p:cNvSpPr txBox="1"/>
          <p:nvPr/>
        </p:nvSpPr>
        <p:spPr>
          <a:xfrm>
            <a:off x="746760" y="238884"/>
            <a:ext cx="9734181" cy="885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4000" b="1" dirty="0">
                <a:solidFill>
                  <a:srgbClr val="227C9D"/>
                </a:solidFill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BCF83-A8B0-FC52-399A-937C6AF7491A}"/>
              </a:ext>
            </a:extLst>
          </p:cNvPr>
          <p:cNvSpPr txBox="1"/>
          <p:nvPr/>
        </p:nvSpPr>
        <p:spPr>
          <a:xfrm>
            <a:off x="579120" y="1763395"/>
            <a:ext cx="113385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Many </a:t>
            </a:r>
            <a:r>
              <a:rPr lang="en-US" sz="2400" b="1" dirty="0"/>
              <a:t>rural and semi-urban women </a:t>
            </a:r>
            <a:r>
              <a:rPr lang="en-US" sz="2400" dirty="0"/>
              <a:t>are actively involved in daily </a:t>
            </a:r>
          </a:p>
          <a:p>
            <a:r>
              <a:rPr lang="en-US" sz="2400" dirty="0"/>
              <a:t>  productive activities such as cooking, farming, stitching, and </a:t>
            </a:r>
          </a:p>
          <a:p>
            <a:r>
              <a:rPr lang="en-US" sz="2400" dirty="0"/>
              <a:t>  small-scale trading. 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However, these efforts often remain </a:t>
            </a:r>
            <a:r>
              <a:rPr lang="en-US" sz="2400" b="1" dirty="0"/>
              <a:t>informal and unstructured</a:t>
            </a:r>
            <a:r>
              <a:rPr lang="en-US" sz="2400" dirty="0"/>
              <a:t>, </a:t>
            </a:r>
          </a:p>
          <a:p>
            <a:r>
              <a:rPr lang="en-US" sz="2400" dirty="0"/>
              <a:t>  and are not converted into consistent or scalable income sources. 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key gaps </a:t>
            </a:r>
            <a:r>
              <a:rPr lang="en-US" sz="2400" dirty="0"/>
              <a:t>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Lack of real-time, actionable guidance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Limited business awareness and market insights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Absence of continuous support for growth and </a:t>
            </a:r>
          </a:p>
          <a:p>
            <a:pPr lvl="1"/>
            <a:r>
              <a:rPr lang="en-US" sz="2400" dirty="0"/>
              <a:t>    improvement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FE3E75-DF59-659B-796A-28EF1817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133" y="1763395"/>
            <a:ext cx="1862217" cy="1752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D4F6CB-5EB3-5771-FE54-6A2FF6AC3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133" y="5744169"/>
            <a:ext cx="1882547" cy="819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B5DE44-F085-23C5-7B7E-185CCC919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133" y="3857660"/>
            <a:ext cx="1882547" cy="17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0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3EB7B2-0767-D50D-63B0-5A305A85E6F6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FB093-2738-9930-4098-34F60646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227C9D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Problem Statement</a:t>
            </a:r>
            <a:br>
              <a:rPr lang="en-US" sz="4400" b="1" dirty="0">
                <a:solidFill>
                  <a:srgbClr val="227C9D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7716B-E35A-4BE3-479B-CB338CF71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500" b="1" dirty="0"/>
              <a:t>Existing solutions focus 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Training-based approaches that are not real-time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Static guidance with no continuous improvement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Generic recommendations lacking personalization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500" b="1" dirty="0"/>
              <a:t>Current AI systems also have limitations: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Generate repetitive and generic suggestions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Fail to track user progress over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Lose context across multiple interactions and languages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500" dirty="0"/>
          </a:p>
          <a:p>
            <a:r>
              <a:rPr lang="en-US" sz="3500" dirty="0"/>
              <a:t>This leads to a gap between user effort and sustainable income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425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1AB09-A45C-1C50-E1BB-3CBFA04C8026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92F3E-E7D2-0286-825C-54AE379D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OBJECTIVES 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A4AA2-0948-011C-41F2-CF5E25644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500" b="1" dirty="0"/>
              <a:t>A voice-driven AI system</a:t>
            </a:r>
            <a:r>
              <a:rPr lang="en-US" sz="3500" dirty="0"/>
              <a:t> designed for accessibility and ease of use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500" dirty="0"/>
              <a:t>Converts daily activities into structured income opportunities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500" b="1" dirty="0"/>
              <a:t>Provides: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Actionable business ideas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Continuous growth and improvement suggestions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Simple financial insights and ROI guidance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500" b="1" dirty="0"/>
              <a:t>Ensures: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Adaptive recommendations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500" dirty="0"/>
              <a:t>Progressive evolution of micro-businesses over time </a:t>
            </a:r>
          </a:p>
          <a:p>
            <a:endParaRPr lang="en-IN" sz="3500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272703-EFDC-F637-C655-E37042B76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043" y="1763395"/>
            <a:ext cx="4092637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C7F05F-9EF7-9F52-4D71-B166E69080E6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69173-7044-7200-58A4-7A429536A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MOTIVATION 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31DDF-E11A-1517-4B10-D166C312D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Many women already possess skills and daily productivity, but lack the means to convert </a:t>
            </a:r>
          </a:p>
          <a:p>
            <a:pPr marL="0" indent="0">
              <a:buNone/>
            </a:pPr>
            <a:r>
              <a:rPr lang="en-US" sz="3200" dirty="0"/>
              <a:t>    them into sustainable income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Existing support systems are: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Fragmented (training, loans, schemes are disconnected)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Not continuous (no day-to-day guidance)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Difficult to access for low-literacy users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There is a clear gap between: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What people can do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What they actually earn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Rapid advancements in AI create an opportunity to: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Provide real-time, personalized guidance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Enable self-driven growth without dependency 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11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C18989-78B8-BF8E-06B2-088E29A9AB9F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5340E-EDE6-4E9E-5A54-3712E300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RESEARCH ELEMENT 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11A05-C4A9-2048-031F-64A3831A9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4"/>
            <a:ext cx="10835640" cy="5184775"/>
          </a:xfrm>
        </p:spPr>
        <p:txBody>
          <a:bodyPr>
            <a:normAutofit fontScale="62500" lnSpcReduction="20000"/>
          </a:bodyPr>
          <a:lstStyle/>
          <a:p>
            <a:r>
              <a:rPr lang="en-US" sz="2800" b="1" dirty="0"/>
              <a:t>Title : </a:t>
            </a:r>
            <a:r>
              <a:rPr lang="en-US" sz="2800" dirty="0"/>
              <a:t>“Adaptive Multi-Agent LLM System with Cross-Lingual Context Retention for Non-Repetitive and </a:t>
            </a:r>
          </a:p>
          <a:p>
            <a:r>
              <a:rPr lang="en-US" sz="2800" dirty="0"/>
              <a:t>Progressive Recommendation Generation”</a:t>
            </a:r>
          </a:p>
          <a:p>
            <a:endParaRPr lang="en-US" sz="2800" dirty="0"/>
          </a:p>
          <a:p>
            <a:r>
              <a:rPr lang="en-US" sz="2800" b="1" dirty="0"/>
              <a:t>Research Questions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Does a multi-agent architecture outperform a single LLM in generating structured recommendations?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Can context memory reduce repetition in iterative interactions?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Does the system generate progressively improving outputs over time?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Can the system retain context across language switches (cross-lingual consistency)?</a:t>
            </a:r>
          </a:p>
          <a:p>
            <a:endParaRPr lang="en-US" sz="2800" dirty="0"/>
          </a:p>
          <a:p>
            <a:r>
              <a:rPr lang="en-US" sz="2800" b="1" dirty="0"/>
              <a:t>Hypothesis</a:t>
            </a:r>
          </a:p>
          <a:p>
            <a:r>
              <a:rPr lang="en-US" sz="2800" dirty="0"/>
              <a:t>Multi-agent systems produce more structured and diverse outputs than single LLM systems </a:t>
            </a:r>
          </a:p>
          <a:p>
            <a:r>
              <a:rPr lang="en-US" sz="2800" dirty="0"/>
              <a:t>Cross-lingual normalization enables consistent context retention across languages </a:t>
            </a:r>
          </a:p>
          <a:p>
            <a:r>
              <a:rPr lang="en-US" sz="2800" dirty="0"/>
              <a:t>Iterative evolution leads to progressive improvement in recommendations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Existing work lacks cross-lingual context retention and progressive recommendation evolution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Our work extends these areas with a multi-agent, context-aware approach</a:t>
            </a:r>
          </a:p>
          <a:p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44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941A19-4334-62D8-430E-0BDB56863D36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383EB-101B-B8EB-16D7-A2EAB210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SCOPE 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D0AB3-4605-AD38-76D5-68481761D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500" dirty="0"/>
              <a:t>Rural and semi-urban entrepreneurship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500" dirty="0"/>
              <a:t>Support for low-literacy users through voice interaction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500" dirty="0"/>
              <a:t>Application in: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3500" dirty="0"/>
              <a:t>NGOs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3500" dirty="0"/>
              <a:t>Self-Help Groups (SHGs)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3500" dirty="0"/>
              <a:t>Government programs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/>
              <a:t>Scalable across regions and languages</a:t>
            </a:r>
          </a:p>
          <a:p>
            <a:endParaRPr lang="en-IN" sz="3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968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5CB71E-AD1F-BD84-4084-C5CD6AB09B5F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DCB82-FDFB-8AE8-AABB-18C19C37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NOVELTY 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34ABA5-325C-864A-98DA-6BA7ECE9D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0248"/>
          <a:stretch/>
        </p:blipFill>
        <p:spPr bwMode="auto">
          <a:xfrm>
            <a:off x="1806750" y="1975669"/>
            <a:ext cx="4251150" cy="1466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CA226F-9A80-7FEF-7BB5-2555D7E15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781" y="2147660"/>
            <a:ext cx="3382469" cy="3526744"/>
          </a:xfrm>
          <a:prstGeom prst="rect">
            <a:avLst/>
          </a:prstGeom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807FB9B3-CE7C-FEC2-6630-AE01ABD236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783"/>
          <a:stretch/>
        </p:blipFill>
        <p:spPr bwMode="auto">
          <a:xfrm>
            <a:off x="1806750" y="3474720"/>
            <a:ext cx="4251150" cy="2130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239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6E5D95-A546-F85F-A2CA-535132E1739E}"/>
              </a:ext>
            </a:extLst>
          </p:cNvPr>
          <p:cNvSpPr/>
          <p:nvPr/>
        </p:nvSpPr>
        <p:spPr>
          <a:xfrm>
            <a:off x="579120" y="365125"/>
            <a:ext cx="10957560" cy="110946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9E08B-7F8F-4711-8996-B41642A9A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CHALLENGES 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49E571-BD73-0D4B-59DD-9BBA0DE21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985" y="1737995"/>
            <a:ext cx="10141830" cy="4754880"/>
          </a:xfrm>
        </p:spPr>
      </p:pic>
    </p:spTree>
    <p:extLst>
      <p:ext uri="{BB962C8B-B14F-4D97-AF65-F5344CB8AC3E}">
        <p14:creationId xmlns:p14="http://schemas.microsoft.com/office/powerpoint/2010/main" val="61671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6021-CC5D-DA22-3F9C-5BE2BF54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500" b="1" dirty="0">
                <a:solidFill>
                  <a:schemeClr val="accent5">
                    <a:lumMod val="75000"/>
                  </a:schemeClr>
                </a:solidFill>
              </a:rPr>
              <a:t>THANK YOU </a:t>
            </a:r>
            <a:endParaRPr lang="en-IN" sz="75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90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460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Times New Roman Bold</vt:lpstr>
      <vt:lpstr>Office Theme</vt:lpstr>
      <vt:lpstr>PowerPoint Presentation</vt:lpstr>
      <vt:lpstr>PowerPoint Presentation</vt:lpstr>
      <vt:lpstr>Problem Statement </vt:lpstr>
      <vt:lpstr>OBJECTIVES </vt:lpstr>
      <vt:lpstr>MOTIVATION </vt:lpstr>
      <vt:lpstr>RESEARCH ELEMENT </vt:lpstr>
      <vt:lpstr>SCOPE </vt:lpstr>
      <vt:lpstr>NOVELTY </vt:lpstr>
      <vt:lpstr>CHALLENGES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Sanjula Sudhindra</dc:creator>
  <cp:lastModifiedBy>Sanjula Sudhindra</cp:lastModifiedBy>
  <cp:revision>2</cp:revision>
  <dcterms:created xsi:type="dcterms:W3CDTF">2026-04-20T17:01:55Z</dcterms:created>
  <dcterms:modified xsi:type="dcterms:W3CDTF">2026-04-21T11:35:14Z</dcterms:modified>
</cp:coreProperties>
</file>