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71" r:id="rId7"/>
    <p:sldId id="262" r:id="rId8"/>
    <p:sldId id="263" r:id="rId9"/>
    <p:sldId id="268" r:id="rId10"/>
    <p:sldId id="267" r:id="rId11"/>
    <p:sldId id="269" r:id="rId12"/>
    <p:sldId id="270" r:id="rId13"/>
  </p:sldIdLst>
  <p:sldSz cx="18288000" cy="10287000"/>
  <p:notesSz cx="6858000" cy="9144000"/>
  <p:embeddedFontLst>
    <p:embeddedFont>
      <p:font typeface="Arimo Bold" panose="020B0604020202020204" charset="0"/>
      <p:regular r:id="rId16"/>
    </p:embeddedFont>
    <p:embeddedFont>
      <p:font typeface="Calibri (MS)" panose="020B0604020202020204" charset="0"/>
      <p:regular r:id="rId17"/>
    </p:embeddedFont>
    <p:embeddedFont>
      <p:font typeface="Canva Sans 1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9" autoAdjust="0"/>
    <p:restoredTop sz="94622" autoAdjust="0"/>
  </p:normalViewPr>
  <p:slideViewPr>
    <p:cSldViewPr>
      <p:cViewPr varScale="1">
        <p:scale>
          <a:sx n="52" d="100"/>
          <a:sy n="52" d="100"/>
        </p:scale>
        <p:origin x="1147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BA0753-F548-6742-1D81-AE1E65FDFC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8EE6F8-64F4-0D92-EC37-23A33A8CF7D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6E115E-91B9-478A-A37B-4AA1BE27C56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F617B5-707B-A2EE-0026-1A3ADA04EB4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BE57DF-02BC-2845-A43E-ED25C0300E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8BAA6-45F0-4B03-BC6D-2B5FAB37C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97554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3E9615-32B7-4E4A-9368-1E5A782820A8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007E-D14C-4010-90EC-70BE9C139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13740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65F53-4BC2-41A4-B2EB-B7DE092994EF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9E42D-0EE3-4D54-9D86-48A726133976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E19E7-B032-45C4-81AD-AACEC2730295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BF9CC-DEE3-4486-B810-57011384280A}" type="datetime1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D27C5-0793-4EF7-8CB5-657F40A59886}" type="datetime1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6A991-214B-4261-B485-92AAA32416D5}" type="datetime1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BE5FB-9E8E-474A-9D1A-73ADCE41C411}" type="datetime1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D4DB8-7EE7-465C-8CD5-0AF859203581}" type="datetime1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598A4-9E62-48A5-BE6B-7B8DEB215A3B}" type="datetime1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303A-534F-4550-9BE1-F39E6AFEBFFD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31F09-C216-4125-AD57-F0E7F770C9AE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7258A-453F-4F23-BEE6-35DB58823306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96216" y="3376413"/>
            <a:ext cx="15295569" cy="2415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3"/>
              </a:lnSpc>
            </a:pPr>
            <a:r>
              <a:rPr lang="en-US" sz="4800" b="1" dirty="0">
                <a:solidFill>
                  <a:srgbClr val="4F81BD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Voice2Venture</a:t>
            </a:r>
          </a:p>
          <a:p>
            <a:pPr algn="ctr">
              <a:lnSpc>
                <a:spcPts val="6163"/>
              </a:lnSpc>
            </a:pPr>
            <a:r>
              <a:rPr lang="en-US" sz="4800" b="1" dirty="0">
                <a:solidFill>
                  <a:srgbClr val="4F81BD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A Contextual-Bandit-Driven Multi-Agent System for Adaptive Livelihood-Growth Recommendation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618776" y="8029575"/>
            <a:ext cx="2743200" cy="365122"/>
            <a:chOff x="0" y="0"/>
            <a:chExt cx="3657600" cy="4868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7600" cy="486833"/>
            </a:xfrm>
            <a:custGeom>
              <a:avLst/>
              <a:gdLst/>
              <a:ahLst/>
              <a:cxnLst/>
              <a:rect l="l" t="t" r="r" b="b"/>
              <a:pathLst>
                <a:path w="3657600" h="486833">
                  <a:moveTo>
                    <a:pt x="0" y="0"/>
                  </a:moveTo>
                  <a:lnTo>
                    <a:pt x="3657600" y="0"/>
                  </a:lnTo>
                  <a:lnTo>
                    <a:pt x="36576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2" b="-96391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57600" cy="5249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2015968" y="356954"/>
            <a:ext cx="14256065" cy="2610642"/>
          </a:xfrm>
          <a:custGeom>
            <a:avLst/>
            <a:gdLst/>
            <a:ahLst/>
            <a:cxnLst/>
            <a:rect l="l" t="t" r="r" b="b"/>
            <a:pathLst>
              <a:path w="14256065" h="2610642">
                <a:moveTo>
                  <a:pt x="0" y="0"/>
                </a:moveTo>
                <a:lnTo>
                  <a:pt x="14256064" y="0"/>
                </a:lnTo>
                <a:lnTo>
                  <a:pt x="14256064" y="2610642"/>
                </a:lnTo>
                <a:lnTo>
                  <a:pt x="0" y="2610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618776" y="7037765"/>
            <a:ext cx="5974566" cy="2318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5"/>
              </a:lnSpc>
            </a:pPr>
            <a:r>
              <a:rPr lang="en-US" sz="2799" b="1" i="1" u="sng" dirty="0">
                <a:solidFill>
                  <a:srgbClr val="000000"/>
                </a:solidFill>
                <a:latin typeface="+mj-lt"/>
                <a:ea typeface="Times New Roman Bold Italics"/>
                <a:cs typeface="Times New Roman Bold Italics"/>
                <a:sym typeface="Times New Roman Bold Italics"/>
              </a:rPr>
              <a:t>Under the Guidance of</a:t>
            </a:r>
          </a:p>
          <a:p>
            <a:pPr algn="ctr">
              <a:lnSpc>
                <a:spcPts val="3081"/>
              </a:lnSpc>
            </a:pPr>
            <a:endParaRPr lang="en-US" sz="2799" b="1" i="1" u="sng" dirty="0">
              <a:solidFill>
                <a:srgbClr val="000000"/>
              </a:solidFill>
              <a:latin typeface="+mj-lt"/>
              <a:ea typeface="Times New Roman Bold Italics"/>
              <a:cs typeface="Times New Roman Bold Italics"/>
              <a:sym typeface="Times New Roman Bold Italics"/>
            </a:endParaRPr>
          </a:p>
          <a:p>
            <a:pPr algn="ctr">
              <a:lnSpc>
                <a:spcPts val="3863"/>
              </a:lnSpc>
            </a:pPr>
            <a:r>
              <a:rPr lang="en-US" sz="2799" b="1" dirty="0">
                <a:solidFill>
                  <a:srgbClr val="000000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 Aishwarya T</a:t>
            </a:r>
          </a:p>
          <a:p>
            <a:pPr algn="ctr">
              <a:lnSpc>
                <a:spcPts val="3863"/>
              </a:lnSpc>
            </a:pPr>
            <a:r>
              <a:rPr lang="en-US" sz="2799" b="1" dirty="0">
                <a:solidFill>
                  <a:srgbClr val="000000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 Assistant Professor</a:t>
            </a:r>
          </a:p>
          <a:p>
            <a:pPr algn="ctr">
              <a:lnSpc>
                <a:spcPts val="3863"/>
              </a:lnSpc>
            </a:pPr>
            <a:r>
              <a:rPr lang="en-US" sz="2799" b="1" dirty="0">
                <a:solidFill>
                  <a:srgbClr val="000000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Dept. of ISE, VVCE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2138" y="7037765"/>
            <a:ext cx="6728698" cy="271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sz="2699" b="1" i="1" u="sng" dirty="0">
                <a:solidFill>
                  <a:srgbClr val="000000"/>
                </a:solidFill>
                <a:latin typeface="+mj-lt"/>
                <a:ea typeface="Times New Roman Bold Italics"/>
                <a:cs typeface="Times New Roman Bold Italics"/>
                <a:sym typeface="Times New Roman Bold Italics"/>
              </a:rPr>
              <a:t>Presented By</a:t>
            </a:r>
          </a:p>
          <a:p>
            <a:pPr algn="ctr">
              <a:lnSpc>
                <a:spcPts val="3466"/>
              </a:lnSpc>
            </a:pPr>
            <a:endParaRPr lang="en-US" sz="2699" b="1" i="1" u="sng" dirty="0">
              <a:solidFill>
                <a:srgbClr val="000000"/>
              </a:solidFill>
              <a:latin typeface="+mj-lt"/>
              <a:ea typeface="Times New Roman Bold Italics"/>
              <a:cs typeface="Times New Roman Bold Italics"/>
              <a:sym typeface="Times New Roman Bold Italics"/>
            </a:endParaRPr>
          </a:p>
          <a:p>
            <a:pPr algn="l">
              <a:lnSpc>
                <a:spcPts val="3595"/>
              </a:lnSpc>
            </a:pPr>
            <a:r>
              <a:rPr lang="en-US" sz="2799" b="1" dirty="0">
                <a:solidFill>
                  <a:srgbClr val="000000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             Bhoomika N	             4VV23IS038</a:t>
            </a:r>
          </a:p>
          <a:p>
            <a:pPr algn="just">
              <a:lnSpc>
                <a:spcPts val="3595"/>
              </a:lnSpc>
            </a:pPr>
            <a:r>
              <a:rPr lang="en-US" sz="2799" b="1" dirty="0">
                <a:solidFill>
                  <a:srgbClr val="000000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             Sanjula S                            4VV23IS194</a:t>
            </a:r>
          </a:p>
          <a:p>
            <a:pPr algn="l">
              <a:lnSpc>
                <a:spcPts val="3595"/>
              </a:lnSpc>
            </a:pPr>
            <a:r>
              <a:rPr lang="en-US" sz="2799" b="1" dirty="0">
                <a:solidFill>
                  <a:srgbClr val="000000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             Shreya BJ                           4VV23IS207</a:t>
            </a:r>
          </a:p>
          <a:p>
            <a:pPr algn="l">
              <a:lnSpc>
                <a:spcPts val="3595"/>
              </a:lnSpc>
            </a:pPr>
            <a:r>
              <a:rPr lang="en-US" sz="2799" b="1" dirty="0">
                <a:solidFill>
                  <a:srgbClr val="000000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 	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E4355-2B2B-291A-86A1-D08CD8290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730241"/>
          </a:xfrm>
          <a:custGeom>
            <a:avLst/>
            <a:gdLst/>
            <a:ahLst/>
            <a:cxnLst/>
            <a:rect l="l" t="t" r="r" b="b"/>
            <a:pathLst>
              <a:path w="19724942" h="4769110">
                <a:moveTo>
                  <a:pt x="0" y="0"/>
                </a:moveTo>
                <a:lnTo>
                  <a:pt x="19724941" y="0"/>
                </a:lnTo>
                <a:lnTo>
                  <a:pt x="19724941" y="4769110"/>
                </a:lnTo>
                <a:lnTo>
                  <a:pt x="0" y="4769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614899" y="3134744"/>
            <a:ext cx="5783828" cy="6274365"/>
          </a:xfrm>
          <a:custGeom>
            <a:avLst/>
            <a:gdLst/>
            <a:ahLst/>
            <a:cxnLst/>
            <a:rect l="l" t="t" r="r" b="b"/>
            <a:pathLst>
              <a:path w="5783828" h="6274365">
                <a:moveTo>
                  <a:pt x="0" y="0"/>
                </a:moveTo>
                <a:lnTo>
                  <a:pt x="5783828" y="0"/>
                </a:lnTo>
                <a:lnTo>
                  <a:pt x="5783828" y="6274365"/>
                </a:lnTo>
                <a:lnTo>
                  <a:pt x="0" y="6274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08" b="-10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3657600" y="150113"/>
            <a:ext cx="13034648" cy="1329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80"/>
              </a:lnSpc>
            </a:pPr>
            <a:r>
              <a:rPr lang="en-US" sz="6600" b="1" dirty="0">
                <a:solidFill>
                  <a:srgbClr val="000000"/>
                </a:solidFill>
                <a:latin typeface="+mj-lt"/>
                <a:ea typeface="Arimo Bold"/>
                <a:cs typeface="Arimo Bold"/>
                <a:sym typeface="Arimo Bold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754600" y="9715500"/>
            <a:ext cx="1524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6815" y="2628900"/>
            <a:ext cx="6210300" cy="4184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Introduction</a:t>
            </a:r>
          </a:p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Problem Statement</a:t>
            </a:r>
          </a:p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Objectives</a:t>
            </a:r>
          </a:p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Literature Review</a:t>
            </a:r>
          </a:p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Methodology</a:t>
            </a:r>
          </a:p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Conclusion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1CA0FF-E5E4-120A-ADB4-A703953A3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46"/>
            <a:ext cx="18288000" cy="1378119"/>
          </a:xfrm>
          <a:custGeom>
            <a:avLst/>
            <a:gdLst/>
            <a:ahLst/>
            <a:cxnLst/>
            <a:rect l="l" t="t" r="r" b="b"/>
            <a:pathLst>
              <a:path w="19724942" h="4012844">
                <a:moveTo>
                  <a:pt x="0" y="0"/>
                </a:moveTo>
                <a:lnTo>
                  <a:pt x="19724942" y="0"/>
                </a:lnTo>
                <a:lnTo>
                  <a:pt x="19724942" y="4012844"/>
                </a:lnTo>
                <a:lnTo>
                  <a:pt x="0" y="4012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25120" y="1878322"/>
            <a:ext cx="10144740" cy="8062550"/>
          </a:xfrm>
          <a:custGeom>
            <a:avLst/>
            <a:gdLst/>
            <a:ahLst/>
            <a:cxnLst/>
            <a:rect l="l" t="t" r="r" b="b"/>
            <a:pathLst>
              <a:path w="10144740" h="8062550">
                <a:moveTo>
                  <a:pt x="0" y="0"/>
                </a:moveTo>
                <a:lnTo>
                  <a:pt x="10144741" y="0"/>
                </a:lnTo>
                <a:lnTo>
                  <a:pt x="10144741" y="8062549"/>
                </a:lnTo>
                <a:lnTo>
                  <a:pt x="0" y="8062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39" b="-83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3655881" y="-191931"/>
            <a:ext cx="13034648" cy="150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6600" b="1" dirty="0">
                <a:solidFill>
                  <a:srgbClr val="000000"/>
                </a:solidFill>
                <a:latin typeface="+mj-lt"/>
                <a:ea typeface="Arimo Bold"/>
                <a:cs typeface="Arimo Bold"/>
                <a:sym typeface="Arimo Bold"/>
              </a:rPr>
              <a:t>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69860" y="2025521"/>
            <a:ext cx="7450676" cy="776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3211" lvl="1" indent="-296605" algn="l">
              <a:lnSpc>
                <a:spcPts val="3846"/>
              </a:lnSpc>
              <a:buFont typeface="Arial"/>
              <a:buChar char="•"/>
            </a:pPr>
            <a:r>
              <a:rPr lang="en-US" sz="2747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Informal activities are an important source of livelihood. Growth decisions are often uncertain and context-dependent.</a:t>
            </a:r>
          </a:p>
          <a:p>
            <a:pPr algn="l">
              <a:lnSpc>
                <a:spcPts val="3846"/>
              </a:lnSpc>
            </a:pPr>
            <a:endParaRPr lang="en-US" sz="2747" dirty="0">
              <a:solidFill>
                <a:srgbClr val="000000"/>
              </a:solidFill>
              <a:latin typeface="+mj-lt"/>
              <a:ea typeface="Canva Sans 2"/>
              <a:cs typeface="Canva Sans 2"/>
              <a:sym typeface="Canva Sans 2"/>
            </a:endParaRPr>
          </a:p>
          <a:p>
            <a:pPr marL="593211" lvl="1" indent="-296605" algn="l">
              <a:lnSpc>
                <a:spcPts val="3846"/>
              </a:lnSpc>
              <a:buFont typeface="Arial"/>
              <a:buChar char="•"/>
            </a:pPr>
            <a:r>
              <a:rPr lang="en-US" sz="2747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Pricing, scaling, reach, and reinvestment require informed decisions.</a:t>
            </a:r>
          </a:p>
          <a:p>
            <a:pPr algn="l">
              <a:lnSpc>
                <a:spcPts val="3846"/>
              </a:lnSpc>
            </a:pPr>
            <a:endParaRPr lang="en-US" sz="2747" dirty="0">
              <a:solidFill>
                <a:srgbClr val="000000"/>
              </a:solidFill>
              <a:latin typeface="+mj-lt"/>
              <a:ea typeface="Canva Sans 2"/>
              <a:cs typeface="Canva Sans 2"/>
              <a:sym typeface="Canva Sans 2"/>
            </a:endParaRPr>
          </a:p>
          <a:p>
            <a:pPr marL="593211" lvl="1" indent="-296605" algn="l">
              <a:lnSpc>
                <a:spcPts val="3846"/>
              </a:lnSpc>
              <a:buFont typeface="Arial"/>
              <a:buChar char="•"/>
            </a:pPr>
            <a:r>
              <a:rPr lang="en-US" sz="2747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The impact of each decision varies across individuals.</a:t>
            </a:r>
          </a:p>
          <a:p>
            <a:pPr marL="593211" lvl="1" indent="-296605" algn="l">
              <a:lnSpc>
                <a:spcPts val="3846"/>
              </a:lnSpc>
              <a:buFont typeface="Arial"/>
              <a:buChar char="•"/>
            </a:pPr>
            <a:endParaRPr lang="en-US" sz="2747" dirty="0">
              <a:solidFill>
                <a:srgbClr val="000000"/>
              </a:solidFill>
              <a:latin typeface="+mj-lt"/>
              <a:ea typeface="Canva Sans 2"/>
              <a:cs typeface="Canva Sans 2"/>
              <a:sym typeface="Canva Sans 2"/>
            </a:endParaRPr>
          </a:p>
          <a:p>
            <a:pPr marL="593211" lvl="1" indent="-296605" algn="l">
              <a:lnSpc>
                <a:spcPts val="3846"/>
              </a:lnSpc>
              <a:buFont typeface="Arial"/>
              <a:buChar char="•"/>
            </a:pPr>
            <a:r>
              <a:rPr lang="en-US" sz="2747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Without learning from outcomes, sustainable growth is difficult.</a:t>
            </a:r>
          </a:p>
          <a:p>
            <a:pPr algn="l">
              <a:lnSpc>
                <a:spcPts val="3846"/>
              </a:lnSpc>
            </a:pPr>
            <a:endParaRPr lang="en-US" sz="2747" dirty="0">
              <a:solidFill>
                <a:srgbClr val="000000"/>
              </a:solidFill>
              <a:latin typeface="+mj-lt"/>
              <a:ea typeface="Canva Sans 2"/>
              <a:cs typeface="Canva Sans 2"/>
              <a:sym typeface="Canva Sans 2"/>
            </a:endParaRPr>
          </a:p>
          <a:p>
            <a:pPr marL="593211" lvl="1" indent="-296605" algn="l">
              <a:lnSpc>
                <a:spcPts val="3846"/>
              </a:lnSpc>
              <a:buFont typeface="Arial"/>
              <a:buChar char="•"/>
            </a:pPr>
            <a:r>
              <a:rPr lang="en-US" sz="2747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A personalized, data-driven approach is needed for better income growth.</a:t>
            </a:r>
          </a:p>
          <a:p>
            <a:pPr algn="l">
              <a:lnSpc>
                <a:spcPts val="3846"/>
              </a:lnSpc>
            </a:pPr>
            <a:endParaRPr lang="en-US" sz="2747" dirty="0">
              <a:solidFill>
                <a:srgbClr val="000000"/>
              </a:solidFill>
              <a:latin typeface="+mj-lt"/>
              <a:ea typeface="Canva Sans 2"/>
              <a:cs typeface="Canva Sans 2"/>
              <a:sym typeface="Canva Sans 2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E486B-098D-2749-027A-390456FF8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0C1DFD-DAFF-8B14-9992-AB449A577980}"/>
              </a:ext>
            </a:extLst>
          </p:cNvPr>
          <p:cNvSpPr txBox="1"/>
          <p:nvPr/>
        </p:nvSpPr>
        <p:spPr>
          <a:xfrm>
            <a:off x="17830800" y="97936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3278" y="-56484"/>
            <a:ext cx="6155783" cy="1489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 b="1" u="sng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Objectives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-35589"/>
            <a:ext cx="18288000" cy="1673890"/>
          </a:xfrm>
          <a:custGeom>
            <a:avLst/>
            <a:gdLst/>
            <a:ahLst/>
            <a:cxnLst/>
            <a:rect l="l" t="t" r="r" b="b"/>
            <a:pathLst>
              <a:path w="19724942" h="3606432">
                <a:moveTo>
                  <a:pt x="0" y="0"/>
                </a:moveTo>
                <a:lnTo>
                  <a:pt x="19724942" y="0"/>
                </a:lnTo>
                <a:lnTo>
                  <a:pt x="19724942" y="3606432"/>
                </a:lnTo>
                <a:lnTo>
                  <a:pt x="0" y="3606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942743" y="1234403"/>
            <a:ext cx="17498535" cy="8397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459"/>
              </a:lnSpc>
              <a:spcBef>
                <a:spcPts val="600"/>
              </a:spcBef>
              <a:spcAft>
                <a:spcPts val="600"/>
              </a:spcAft>
            </a:pPr>
            <a:endParaRPr lang="en-US" sz="3500" dirty="0">
              <a:solidFill>
                <a:srgbClr val="000000"/>
              </a:solidFill>
              <a:latin typeface="+mj-lt"/>
              <a:ea typeface="Canva Sans 2"/>
              <a:cs typeface="Canva Sans 2"/>
              <a:sym typeface="Canva Sans 2"/>
            </a:endParaRPr>
          </a:p>
          <a:p>
            <a:pPr>
              <a:lnSpc>
                <a:spcPts val="5459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500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1.   Capture users’ income-generating activities and context through voice/text input.</a:t>
            </a:r>
          </a:p>
          <a:p>
            <a:pPr marL="742950" indent="-742950">
              <a:lnSpc>
                <a:spcPts val="5459"/>
              </a:lnSpc>
              <a:spcBef>
                <a:spcPts val="600"/>
              </a:spcBef>
              <a:spcAft>
                <a:spcPts val="600"/>
              </a:spcAft>
              <a:buAutoNum type="arabicPeriod" startAt="2"/>
            </a:pPr>
            <a:r>
              <a:rPr lang="en-US" sz="3500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Personalize growth recommendations based on user activity, history, and      </a:t>
            </a:r>
          </a:p>
          <a:p>
            <a:pPr>
              <a:lnSpc>
                <a:spcPts val="5459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500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       circumstances.</a:t>
            </a:r>
          </a:p>
          <a:p>
            <a:pPr marL="742950" indent="-742950">
              <a:lnSpc>
                <a:spcPts val="5459"/>
              </a:lnSpc>
              <a:spcBef>
                <a:spcPts val="600"/>
              </a:spcBef>
              <a:spcAft>
                <a:spcPts val="600"/>
              </a:spcAft>
              <a:buAutoNum type="arabicPeriod" startAt="3"/>
            </a:pPr>
            <a:r>
              <a:rPr lang="en-US" sz="3500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Develop an adaptive contextual-bandit recommendation framework that learns </a:t>
            </a:r>
          </a:p>
          <a:p>
            <a:pPr>
              <a:lnSpc>
                <a:spcPts val="5459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500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       from feedback and outcomes.</a:t>
            </a:r>
          </a:p>
          <a:p>
            <a:pPr>
              <a:lnSpc>
                <a:spcPts val="5459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500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4.    Evaluate growth and reinvestment opportunities using financial and ROI analysis.</a:t>
            </a:r>
          </a:p>
          <a:p>
            <a:pPr marL="742950" indent="-742950">
              <a:lnSpc>
                <a:spcPts val="5459"/>
              </a:lnSpc>
              <a:spcBef>
                <a:spcPts val="600"/>
              </a:spcBef>
              <a:spcAft>
                <a:spcPts val="600"/>
              </a:spcAft>
              <a:buAutoNum type="arabicPeriod" startAt="5"/>
            </a:pPr>
            <a:r>
              <a:rPr lang="en-US" sz="3500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Compare and evaluate the adaptive system against static and LLM-only </a:t>
            </a:r>
          </a:p>
          <a:p>
            <a:pPr>
              <a:lnSpc>
                <a:spcPts val="5459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500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       approaches using recommendation, personalization, adaptation, and efficiency </a:t>
            </a:r>
          </a:p>
          <a:p>
            <a:pPr>
              <a:lnSpc>
                <a:spcPts val="5459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500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       metrics.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3CF83F-4BE1-C5BD-2533-5213B9750508}"/>
              </a:ext>
            </a:extLst>
          </p:cNvPr>
          <p:cNvSpPr txBox="1"/>
          <p:nvPr/>
        </p:nvSpPr>
        <p:spPr>
          <a:xfrm>
            <a:off x="17757058" y="94470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431541" cy="10287000"/>
          </a:xfrm>
          <a:custGeom>
            <a:avLst/>
            <a:gdLst/>
            <a:ahLst/>
            <a:cxnLst/>
            <a:rect l="l" t="t" r="r" b="b"/>
            <a:pathLst>
              <a:path w="18431541" h="10287000">
                <a:moveTo>
                  <a:pt x="0" y="0"/>
                </a:moveTo>
                <a:lnTo>
                  <a:pt x="18431541" y="0"/>
                </a:lnTo>
                <a:lnTo>
                  <a:pt x="184315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975" b="-917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534359" y="6024880"/>
            <a:ext cx="5877341" cy="32334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latin typeface="Arimo Bold"/>
                <a:ea typeface="Arimo Bold"/>
                <a:cs typeface="Arimo Bold"/>
                <a:sym typeface="Arimo Bold"/>
              </a:rPr>
              <a:t>Literature Review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F3DD6B-3F24-BD9A-FA14-D2280D2DF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8E40F1-D0FD-D020-EBFE-C61609FC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146068"/>
              </p:ext>
            </p:extLst>
          </p:nvPr>
        </p:nvGraphicFramePr>
        <p:xfrm>
          <a:off x="209193" y="739015"/>
          <a:ext cx="17869613" cy="8808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53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1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18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115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918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115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132583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Sl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Author and Published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Methodology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Problem 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Inference and 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808">
                <a:tc>
                  <a:txBody>
                    <a:bodyPr/>
                    <a:lstStyle/>
                    <a:p>
                      <a:pPr algn="just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Lihong Li, John Langford, Robert E. </a:t>
                      </a:r>
                      <a:r>
                        <a:rPr sz="1600" dirty="0" err="1"/>
                        <a:t>Schapire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A Contextual-Bandit Approach to Personalized News Article Recommendation (2010)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 err="1"/>
                        <a:t>LinUCB</a:t>
                      </a:r>
                      <a:r>
                        <a:rPr sz="1600" dirty="0"/>
                        <a:t> (Linear Upper Confidence Bound).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Personalized news recommendation and cold-start problem.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Metric: CTR. Result: CTR increased by ~12.5%; UCB outperformed ε-greedy.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Linear reward model; requires exploration; news-specific evaluation.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550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Wenhuang Kevin Labille, Xintao Wu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Achieving User-Side Fairness in Contextual Bandits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Fair-LinUCB.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Reducing reward disparity between user groups.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Metrics: Utility loss, reward difference. Results: Reduced reward disparity with low regret.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Simulated experiments; fairness mainly evaluated at the gender-group level.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313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 err="1"/>
                        <a:t>Mengyan</a:t>
                      </a:r>
                      <a:r>
                        <a:rPr sz="1600" dirty="0"/>
                        <a:t> Zhang, Thanh Nguyen-Tang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Two-Stage Neural Contextual Bandits for Personalized News Recommendation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NRMS + LinUCB.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Limited exploration and computational inefficiency in large-scale neural recommendation.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Metrics:Cumulative reward, CTR. Results: Higher CTR; two-stage approach outperformed one-stage approach.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MIND-specific; computational overhead.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313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Shenghao Xu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 err="1"/>
                        <a:t>BanditMF</a:t>
                      </a:r>
                      <a:r>
                        <a:rPr sz="1400" dirty="0"/>
                        <a:t>: Multi-Armed Bandit Based Matrix Factorization Recommender System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Matrix Factorization + K-means + BanditMF.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Cold-start and limited exploration.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Metrics:MSE, CTR, cumulative regret. Results: Thompson Sampling performed best; MF reduced MSE by ~20.7%.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Cluster-dependent; higher model complexity.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550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Xiaoying Zhang, Hong Xie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Conversational Contextual Bandit: Algorithm and Application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CONUCB.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Slow preference learning and preference acquisition.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Metrics: Cumulative regret, CTR, accuracy. Results: Lower regret and higher CTR than LinUCB.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Key-term dependent; requires user feedback.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550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Alekh Agarwal, Sarah Bird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Making Contextual Decisions with Low Technical Debt (2017)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Contextual Bandits; ε-greedy exploration.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Biased feedback and delayed rewards.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Metrics:CTR, latency, throughput. Results: CTR increased by ~25–30%; low latency.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Logging dependent; complex deployment.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9550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Yupeng Hou, Junjie Zhang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Large Language Models Are Zero-Shot Rankers for Recommender Systems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Zero-shot LLM prompting; prompt engineering.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Task-specific training and position/popularity bias.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Metric: NDCG@K. Results: GPT-4/ChatGPT outperformed traditional baselines.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Prompt-dependent; ranking-only; residual bias.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57077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Chuang Li, Weida Liang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Improving Conversational Recommendation with Contextual Adaptation of External Recommenders and LLM-Based Reranking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CARE; Transformer-based architecture.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Out-of-domain recommendations and limited learning.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Metrics: Hit@K, NDCG@K. Results:Accuracy improvement of ~54% on ReDial and ~25% on INSPIRED.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External recommender dependency; conversational datasets only.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57077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Dietmar Jannach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Evaluating Conversational Recommender Systems: A Landscape of Research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Offline, user-based, and field evaluation.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Lack of standardized evaluation procedures.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Metrics: Precision, recall, task completion and subjective measures. Results: Highlights the need for objective + subjective evaluation.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No novel model or experimental validation.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0EB1658-C352-C20D-59B1-AD616DC08414}"/>
              </a:ext>
            </a:extLst>
          </p:cNvPr>
          <p:cNvSpPr txBox="1"/>
          <p:nvPr/>
        </p:nvSpPr>
        <p:spPr>
          <a:xfrm>
            <a:off x="17678400" y="97155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5893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079EFCE-AC82-FD2B-ADDD-527C34C16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060867"/>
              </p:ext>
            </p:extLst>
          </p:nvPr>
        </p:nvGraphicFramePr>
        <p:xfrm>
          <a:off x="217539" y="684140"/>
          <a:ext cx="17852922" cy="8918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2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4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9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9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40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193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340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71584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Sl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Author and Published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Methodology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Problem 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Inference and 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4881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Xiao Xu, Fang Dong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Contextual-Bandit Based Personalized Recommendation with Time-Varying User Interests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PSLinUCB with sliding-window change detection.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Changing and non-stationary user preferences.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Metrics: CTR, cumulative regret. </a:t>
                      </a:r>
                      <a:br>
                        <a:rPr sz="1600"/>
                      </a:br>
                      <a:r>
                        <a:rPr sz="1600"/>
                        <a:t>Results: CTR improved by ~2–3%; lower regret.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Change-detection cost; assumptions regarding user behavior.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4881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Sara Qassimi, Said Rakrak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Multi-Objective Contextual Bandits in Recommendation Systems for Smart Tourism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Multi-Objective Contextual MAB (LinUCB-based).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Single-objective optimization and dynamic user preferences.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Metrics:Reward, cumulative regret, CTR, relevance, fairness, diversity. Results: Higher CTR and lower regret.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Tourism-specific; optimization overhead.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4881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Alexander Semenov, Maciej Rysz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Diversity in News Recommendations Using Contextual Bandits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DivLinUCB — LinUCB with recommendation-frequency-based cost.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Over-exposure of popular articles and limited recommendation diversity.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Metrics: CTR, diversity. Results:Improved recommendation diversity.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Increasing diversity may reduce click performance; evaluated only on news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951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Djallel Bouneffouf, Raphael Feraud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Multi-Armed Bandits Meet Large Language Models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MAB, contextual bandits, prompt optimization.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Exploration–exploitation in LLM-based decision systems.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Metrics: No unified metric; discusses reward and adaptive performance.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Emerging field; no unified benchmark.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951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Jianghao Lin, Xinyi Dai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How Can Recommender Systems Benefit from Large Language Models?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LLMs for features, ranking, interaction, and pipeline control.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Complex preferences and limited open-world knowledge.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Metrics: No single standardized metric; discusses effectiveness and personalization.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Cost, scalability, hallucination, and privacy.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2951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Ardeshir Shojaei, Shahla Asadi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LLMs Integration in Recommender Systems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CLLM4Rec, knowledge-graph integration, LLMER, and pipeline integration.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Cold-start and personalization challenges.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Results:Improvements reported in semantic understanding and personalization.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Cost, hallucination, and lack of evaluation standardization.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98742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Lu Wang, Chiming Duan, Pu Zhao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ICI Bandit: Relevance Labeling in Advertisement Recommendation Systems via LLM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ICL-Bandit with reward-based demonstration selection.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Costly labeling and ineffective demonstration selection.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Metrics: Accuracy, F1, CTR, conversion. Results: GPT-4 achieved 80.03% accuracy and 82.57% F1; production CTR increased 3.2% and conversion 2.7%.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Advertisement-specific; proprietary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62951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 err="1"/>
                        <a:t>Baihan</a:t>
                      </a:r>
                      <a:r>
                        <a:rPr sz="1600" dirty="0"/>
                        <a:t> 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Reinforcement Learning and Bandits for Speech and Language Processing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MAB, contextual bandits, RL, offline RL.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Limited online adaptation.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Metrics: No unified metric; focuses on reward and adaptability.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Reward design and safe exploration challenges.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3EB9CF2-95D5-FFCA-F0D5-00C4254D0E1B}"/>
              </a:ext>
            </a:extLst>
          </p:cNvPr>
          <p:cNvSpPr txBox="1"/>
          <p:nvPr/>
        </p:nvSpPr>
        <p:spPr>
          <a:xfrm>
            <a:off x="17907000" y="98679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8BD0A-903A-ACD5-5D25-F4E112489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366230"/>
              </p:ext>
            </p:extLst>
          </p:nvPr>
        </p:nvGraphicFramePr>
        <p:xfrm>
          <a:off x="217539" y="572087"/>
          <a:ext cx="17852922" cy="9142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2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4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9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9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40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193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340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57025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Sl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Author and Published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Methodology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Problem 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Inference and 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21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Davide </a:t>
                      </a:r>
                      <a:r>
                        <a:rPr sz="1600" dirty="0" err="1"/>
                        <a:t>Strusani</a:t>
                      </a:r>
                      <a:r>
                        <a:rPr sz="1600" dirty="0"/>
                        <a:t>, Georges Vivien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The Role of Artificial Intelligence in Supporting Development in Emerging Markets (2019)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Development analysis and case studies.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High costs, limited services, and digital divide.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Results: Potential for lower costs, improved services, and increased productivity.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Infrastructure and skills gaps.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991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 err="1"/>
                        <a:t>Sangbu</a:t>
                      </a:r>
                      <a:r>
                        <a:rPr sz="1600" dirty="0"/>
                        <a:t> Kim, Christine </a:t>
                      </a:r>
                      <a:r>
                        <a:rPr sz="1600" dirty="0" err="1"/>
                        <a:t>Zhenwei</a:t>
                      </a:r>
                      <a:r>
                        <a:rPr sz="1600" dirty="0"/>
                        <a:t> Qiang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Small AI, Big Impact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Lightweight, context-specific AI.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Limited connectivity, infrastructure, and technical skills.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Results:Examples demonstrate potential applications in agriculture, health, and education.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Connectivity and affordability constraints.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991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Catalina Rodriguez Tapia, Nadina Iacob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Working Without Borders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Survey, platform data, regression, and optimization.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Barriers to digital employment and unstable earnings.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Results: Global earnings below US$0.15/task; U.S. prices ≥3× Bangladesh.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Low earnings, geofencing, and unstable work.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21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Alec Radford, Jong Wook Kim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Robust Speech Recognition via Large-Scale Weak Supervision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Transformer; multitask learning.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Improving speech recognition without task-specific fine-tuning.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Metrics:WER, BLEU. Results: Up to 55.2% lower WER; supports 99 languages.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High training cost; weaker performance for some low-resource languages.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371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Yeongseo Jung, Eunseo Jung, Lei 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Towards a Unified Conversational Recommendation System (EMNLP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Multi-task learning (MTL), conversational knowledge distillation (CKD), Transformer-based PLM.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Separate recommendation and dialogue training can reduce performance.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Metrics: Recall@K, NDCG, response quality. Results: Improved recommendation and response performance.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Requires large pretrained models and high-quality conversational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371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Raghav Gupta, Renat Aksitov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Conversational Recommendation as Retrieval (ACL NLP4ConvAI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BM25, information retrieval, data augmentation.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Existing CRS models use complex knowledge graphs and can be difficult to scale.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Metrics:Recall@1, Recall@10, Recall@50. Results: Improved recall with approximately 5 minutes of CPU training.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Cold-start problem; depends on user history and metadata.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8272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Paul.K. Rubenstein, Chulayuth Asawaroengchai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AudioPaLM: A Large Language Model That Can Speak and Listen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PaLM-2+ AudioLM; multimodal LLM.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Separate speech and language models reduce efficiency and integration.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Metrics:BLEU, WER. Results: Improved speech-translation accuracy.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High computational cost.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6371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Yunfei Chu, Jin Xu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Qwen2-Audio Technical Report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Qwen2 LLM + audio encoder + multimodal Transformer.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Existing models have limited audio comprehension capabilities.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Metrics:WER, BLEU, accuracy. Results: Strong performance across multiple audio tasks.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High training and inference cost.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38347E5-8C4D-EA99-D711-672A63303822}"/>
              </a:ext>
            </a:extLst>
          </p:cNvPr>
          <p:cNvSpPr txBox="1"/>
          <p:nvPr/>
        </p:nvSpPr>
        <p:spPr>
          <a:xfrm>
            <a:off x="17754600" y="97149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819400" y="-105203"/>
            <a:ext cx="13034648" cy="1464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6600" b="1" dirty="0">
                <a:solidFill>
                  <a:srgbClr val="000000"/>
                </a:solidFill>
                <a:latin typeface="+mj-lt"/>
                <a:ea typeface="Arimo Bold"/>
                <a:cs typeface="Arimo Bold"/>
                <a:sym typeface="Arimo Bold"/>
              </a:rPr>
              <a:t>Methodology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-22028"/>
            <a:ext cx="18259425" cy="1728311"/>
          </a:xfrm>
          <a:custGeom>
            <a:avLst/>
            <a:gdLst/>
            <a:ahLst/>
            <a:cxnLst/>
            <a:rect l="l" t="t" r="r" b="b"/>
            <a:pathLst>
              <a:path w="17830800" h="1728311">
                <a:moveTo>
                  <a:pt x="0" y="0"/>
                </a:moveTo>
                <a:lnTo>
                  <a:pt x="17830800" y="0"/>
                </a:lnTo>
                <a:lnTo>
                  <a:pt x="17830800" y="1728311"/>
                </a:lnTo>
                <a:lnTo>
                  <a:pt x="0" y="17283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F49679-5AC3-FA8B-23DA-D5F907D2C7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053586"/>
            <a:ext cx="17567948" cy="750951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5E4E78-DC2F-98B7-E32E-00689729C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89688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895600" y="-86326"/>
            <a:ext cx="13034648" cy="1464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6600" b="1" dirty="0">
                <a:solidFill>
                  <a:srgbClr val="000000"/>
                </a:solidFill>
                <a:latin typeface="+mj-lt"/>
                <a:ea typeface="Arimo Bold"/>
                <a:cs typeface="Arimo Bold"/>
                <a:sym typeface="Arimo Bold"/>
              </a:rPr>
              <a:t>Methodology</a:t>
            </a:r>
          </a:p>
        </p:txBody>
      </p:sp>
      <p:sp>
        <p:nvSpPr>
          <p:cNvPr id="4" name="Freeform 4"/>
          <p:cNvSpPr/>
          <p:nvPr/>
        </p:nvSpPr>
        <p:spPr>
          <a:xfrm>
            <a:off x="-4916" y="3687"/>
            <a:ext cx="18288000" cy="1714500"/>
          </a:xfrm>
          <a:custGeom>
            <a:avLst/>
            <a:gdLst/>
            <a:ahLst/>
            <a:cxnLst/>
            <a:rect l="l" t="t" r="r" b="b"/>
            <a:pathLst>
              <a:path w="18288000" h="2326034">
                <a:moveTo>
                  <a:pt x="0" y="0"/>
                </a:moveTo>
                <a:lnTo>
                  <a:pt x="18288000" y="0"/>
                </a:lnTo>
                <a:lnTo>
                  <a:pt x="18288000" y="2326034"/>
                </a:lnTo>
                <a:lnTo>
                  <a:pt x="0" y="2326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AE5A333-E4DB-86D7-1651-656BB5764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326034"/>
            <a:ext cx="12954000" cy="73152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9387009-220F-D7D6-A628-7B418A08B1A1}"/>
              </a:ext>
            </a:extLst>
          </p:cNvPr>
          <p:cNvSpPr txBox="1"/>
          <p:nvPr/>
        </p:nvSpPr>
        <p:spPr>
          <a:xfrm>
            <a:off x="13630275" y="3390900"/>
            <a:ext cx="44196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3000" b="1" u="sng" dirty="0">
                <a:latin typeface="+mj-lt"/>
              </a:rPr>
              <a:t>Understanding</a:t>
            </a:r>
            <a:r>
              <a:rPr lang="en-US" sz="3000" dirty="0">
                <a:latin typeface="+mj-lt"/>
              </a:rPr>
              <a:t>: Input &amp; Intent Accuracy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30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3000" b="1" u="sng" dirty="0">
                <a:latin typeface="+mj-lt"/>
              </a:rPr>
              <a:t>Matching</a:t>
            </a:r>
            <a:r>
              <a:rPr lang="en-US" sz="3000" dirty="0">
                <a:latin typeface="+mj-lt"/>
              </a:rPr>
              <a:t>: Recommendation Relevance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30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3000" b="1" u="sng" dirty="0">
                <a:latin typeface="+mj-lt"/>
              </a:rPr>
              <a:t>Personalization</a:t>
            </a:r>
            <a:r>
              <a:rPr lang="en-US" sz="3000" dirty="0">
                <a:latin typeface="+mj-lt"/>
              </a:rPr>
              <a:t>: Feedback driven improvement</a:t>
            </a:r>
            <a:endParaRPr lang="en-IN" sz="3000" dirty="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23B3B3-60CA-A89C-EBF2-DB6BCC03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18733" y="977259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448"/>
            <a:ext cx="18288000" cy="1737779"/>
          </a:xfrm>
          <a:custGeom>
            <a:avLst/>
            <a:gdLst/>
            <a:ahLst/>
            <a:cxnLst/>
            <a:rect l="l" t="t" r="r" b="b"/>
            <a:pathLst>
              <a:path w="18288000" h="1737779">
                <a:moveTo>
                  <a:pt x="0" y="0"/>
                </a:moveTo>
                <a:lnTo>
                  <a:pt x="18288000" y="0"/>
                </a:lnTo>
                <a:lnTo>
                  <a:pt x="18288000" y="1737779"/>
                </a:lnTo>
                <a:lnTo>
                  <a:pt x="0" y="17377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220200" y="1845213"/>
            <a:ext cx="8766172" cy="8142916"/>
          </a:xfrm>
          <a:custGeom>
            <a:avLst/>
            <a:gdLst/>
            <a:ahLst/>
            <a:cxnLst/>
            <a:rect l="l" t="t" r="r" b="b"/>
            <a:pathLst>
              <a:path w="8842372" h="8142916">
                <a:moveTo>
                  <a:pt x="0" y="0"/>
                </a:moveTo>
                <a:lnTo>
                  <a:pt x="8842372" y="0"/>
                </a:lnTo>
                <a:lnTo>
                  <a:pt x="8842372" y="8142917"/>
                </a:lnTo>
                <a:lnTo>
                  <a:pt x="0" y="8142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70" r="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2566631" y="-58198"/>
            <a:ext cx="13034648" cy="1464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6600" b="1" dirty="0">
                <a:solidFill>
                  <a:srgbClr val="000000"/>
                </a:solidFill>
                <a:latin typeface="+mj-lt"/>
                <a:ea typeface="Arimo Bold"/>
                <a:cs typeface="Arimo Bold"/>
                <a:sym typeface="Arimo Bold"/>
              </a:rPr>
              <a:t>Research Gap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EC1835-4B6C-C2BA-C8E6-254A5B70811A}"/>
              </a:ext>
            </a:extLst>
          </p:cNvPr>
          <p:cNvSpPr txBox="1"/>
          <p:nvPr/>
        </p:nvSpPr>
        <p:spPr>
          <a:xfrm>
            <a:off x="838200" y="2404288"/>
            <a:ext cx="8229601" cy="7171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3500" dirty="0"/>
              <a:t>Limited personalization: Existing systems provide generic recommendations.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3500" dirty="0"/>
              <a:t>Static recommendations: Limited learning from user feedback and outcomes.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3500" dirty="0"/>
              <a:t>LLM limitations: LLMs lack reward-based decision optimization.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3500" dirty="0"/>
              <a:t>Limited financial analysis: ROI, investment, risk, and reinvestment are often overlooked.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3500" dirty="0"/>
              <a:t>Fragmented approaches: Voice input, personalization, bandits, and financial analysis are rarely integrated.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A07020B-DB3F-C6AE-9131-4537C410F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5171" y="980556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"/>
            <a:ext cx="18288000" cy="2053327"/>
          </a:xfrm>
          <a:custGeom>
            <a:avLst/>
            <a:gdLst/>
            <a:ahLst/>
            <a:cxnLst/>
            <a:rect l="l" t="t" r="r" b="b"/>
            <a:pathLst>
              <a:path w="18288000" h="2583428">
                <a:moveTo>
                  <a:pt x="0" y="0"/>
                </a:moveTo>
                <a:lnTo>
                  <a:pt x="18288000" y="0"/>
                </a:lnTo>
                <a:lnTo>
                  <a:pt x="18288000" y="2583428"/>
                </a:lnTo>
                <a:lnTo>
                  <a:pt x="0" y="2583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9066" y="2599042"/>
            <a:ext cx="16465306" cy="5595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78"/>
              </a:lnSpc>
            </a:pPr>
            <a:endParaRPr/>
          </a:p>
          <a:p>
            <a:pPr marL="385959" lvl="1" indent="-192980" algn="just">
              <a:lnSpc>
                <a:spcPts val="4478"/>
              </a:lnSpc>
              <a:buFont typeface="Arial"/>
              <a:buChar char="•"/>
            </a:pPr>
            <a:r>
              <a:rPr lang="en-US" sz="3198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Enables adaptive, personalized growth guidance based on individual user context and outcomes.</a:t>
            </a:r>
          </a:p>
          <a:p>
            <a:pPr algn="just">
              <a:lnSpc>
                <a:spcPts val="4478"/>
              </a:lnSpc>
            </a:pPr>
            <a:endParaRPr lang="en-US" sz="3198">
              <a:solidFill>
                <a:srgbClr val="000000"/>
              </a:solidFill>
              <a:latin typeface="Canva Sans 1"/>
              <a:ea typeface="Canva Sans 1"/>
              <a:cs typeface="Canva Sans 1"/>
              <a:sym typeface="Canva Sans 1"/>
            </a:endParaRPr>
          </a:p>
          <a:p>
            <a:pPr marL="385959" lvl="1" indent="-192980" algn="just">
              <a:lnSpc>
                <a:spcPts val="4478"/>
              </a:lnSpc>
              <a:buFont typeface="Arial"/>
              <a:buChar char="•"/>
            </a:pPr>
            <a:r>
              <a:rPr lang="en-US" sz="3198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Continuously improves recommendations by using real-world outcomes as feedback.</a:t>
            </a:r>
          </a:p>
          <a:p>
            <a:pPr algn="just">
              <a:lnSpc>
                <a:spcPts val="4478"/>
              </a:lnSpc>
            </a:pPr>
            <a:endParaRPr lang="en-US" sz="3198">
              <a:solidFill>
                <a:srgbClr val="000000"/>
              </a:solidFill>
              <a:latin typeface="Canva Sans 1"/>
              <a:ea typeface="Canva Sans 1"/>
              <a:cs typeface="Canva Sans 1"/>
              <a:sym typeface="Canva Sans 1"/>
            </a:endParaRPr>
          </a:p>
          <a:p>
            <a:pPr marL="385959" lvl="1" indent="-192980" algn="just">
              <a:lnSpc>
                <a:spcPts val="4478"/>
              </a:lnSpc>
              <a:buFont typeface="Arial"/>
              <a:buChar char="•"/>
            </a:pPr>
            <a:r>
              <a:rPr lang="en-US" sz="3198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Provides a measurable framework to evaluate adaptive recommendations against static or LLM-only approaches.</a:t>
            </a:r>
          </a:p>
          <a:p>
            <a:pPr algn="just">
              <a:lnSpc>
                <a:spcPts val="4479"/>
              </a:lnSpc>
            </a:pPr>
            <a:endParaRPr lang="en-US" sz="3198">
              <a:solidFill>
                <a:srgbClr val="000000"/>
              </a:solidFill>
              <a:latin typeface="Canva Sans 1"/>
              <a:ea typeface="Canva Sans 1"/>
              <a:cs typeface="Canva Sans 1"/>
              <a:sym typeface="Canva Sans 1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-3429000" y="173398"/>
            <a:ext cx="13034648" cy="1396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80"/>
              </a:lnSpc>
            </a:pPr>
            <a:r>
              <a:rPr lang="en-US" sz="6600" b="1" dirty="0">
                <a:solidFill>
                  <a:srgbClr val="000000"/>
                </a:solidFill>
                <a:latin typeface="+mj-lt"/>
                <a:ea typeface="Arimo Bold"/>
                <a:cs typeface="Arimo Bold"/>
                <a:sym typeface="Arimo Bold"/>
              </a:rPr>
              <a:t>Conclusion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A85B65-367A-1076-889E-45A704FB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921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1859</Words>
  <Application>Microsoft Office PowerPoint</Application>
  <PresentationFormat>Custom</PresentationFormat>
  <Paragraphs>276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Canva Sans 1</vt:lpstr>
      <vt:lpstr>Calibri</vt:lpstr>
      <vt:lpstr>Calibri (MS)</vt:lpstr>
      <vt:lpstr>Arimo Bold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v2v lit.pptx</dc:title>
  <dc:creator>Sanjula</dc:creator>
  <cp:lastModifiedBy>Sanjula Sudhindra</cp:lastModifiedBy>
  <cp:revision>10</cp:revision>
  <dcterms:created xsi:type="dcterms:W3CDTF">2006-08-16T00:00:00Z</dcterms:created>
  <dcterms:modified xsi:type="dcterms:W3CDTF">2026-08-16T11:51:06Z</dcterms:modified>
  <dc:identifier>DAHSXuE6Rtg</dc:identifier>
</cp:coreProperties>
</file>