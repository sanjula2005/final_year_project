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8" r:id="rId7"/>
    <p:sldId id="262" r:id="rId8"/>
    <p:sldId id="267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BB1218-3171-4119-9EE3-29564DACEF4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0FC383-50F6-4D65-8EFF-5CF334BA1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634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14F74-5CBB-51C1-10BF-013891578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E01B62-09E6-4365-25F8-F6B6DDD90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FC1B4-D6FF-0253-0F67-4995F0BE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436A-49D8-49C9-A856-83FCB5E4BF51}" type="datetime1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54AF5-04A9-6B7F-0BF8-9B702F23E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F0A77-1E00-7693-57F5-DF6979E00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69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6053D-E8E9-B712-3B6C-47651B872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A00B6-8DEE-A710-CFB5-5AA178AE3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50AF0-30D5-D291-D8E1-AC6F9EFA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1E776-7B4E-4501-A77D-75F68DEF4351}" type="datetime1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37E96-CF9A-32C0-511C-181FC1129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3AD69-A255-F12D-2AC6-79D55D29A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76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2FD0-F6DD-2E91-3EBE-A789A731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E13D6-7DFF-6C27-061A-F55C3AA7E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304BC-8640-5999-E8A3-1B12C62E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53AA-B25F-4410-BADE-F4F8745D58D4}" type="datetime1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8EA71-A80D-2427-C289-C4DA11232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0F125-9C99-1016-2070-59723EAFA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12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69F5-D27E-3FFD-103B-8C60B37BC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D0151-5E89-1BED-60F6-E22D328F2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A0745-DA0C-3D57-37ED-845741E6A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BC59C-3B4A-2AF6-218F-0B83DCF3A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2C442-2768-42FB-9815-7C2B91DDE82D}" type="datetime1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0D6E6-F97A-FC2C-42C6-79AC90B1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BACF2-80C0-A7EB-66C9-758BDD4D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124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512F1-F805-D5AC-2EE6-DC25951CD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F6A3E-22DB-3105-BBAD-83E50FD8F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D7016-6468-96CB-00AF-07FE1D49C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CDA40B-9677-49FB-DA62-9BE1550D91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7F3356-77EF-A9F2-5CF4-53DF65A23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F6D188-D2A5-A537-195E-F429C2799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CEE4-A032-4D98-A4D1-A687C6C5A9AF}" type="datetime1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1EED0-3812-77C7-F391-8DF7C12B4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C43A0F-A296-8EF8-6EF8-67E2E726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991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40E2F-C1BE-0A1A-4174-CEBB1169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F54748-7F74-E91A-56A7-582865D2F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7A50-3DE9-41AA-95A5-52F7E63B4226}" type="datetime1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A8839-1C71-3850-8680-D78F6A4D1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15A70-9484-F88A-35B0-1A603D8D0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4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D0AD8B-1FC3-2CD5-D6AA-DFA50183A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6ECC1-4567-4F50-B3B3-0CE71B44FEEA}" type="datetime1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B8BD41-DBBE-E7A2-6605-A6E66FAC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0E49B-9439-BF46-B9D5-87C37E62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5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92E98-7E69-D092-A757-B53CEDD2F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B9682-9ACE-5114-3D9B-D8BCF2E0C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90E19-8A88-C554-0BE5-FC5054CE3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A85D8-B5F6-AD59-9710-A10223C00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DB6E7-E81C-4BF1-B665-B9036D486935}" type="datetime1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99A60-399B-D132-8C2C-88F8DFB73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0EE3C-F071-29E7-3955-E86DDF589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29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99D4-E685-6538-2A3C-A9617A0F5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FA901F-D8AF-FDE9-D47B-C080DEAA68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AF4D9-41B6-6EAD-E8C8-3D91CEB59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D8D15-B01B-5DF1-AA49-7B5C9724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09EF7-B560-46AE-8331-3DD2224757E2}" type="datetime1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902D9-6153-830A-3CAE-99225C6BE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CDB5F-8953-2D91-8F6C-8FCD0435F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518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CE1FB-13C0-61BD-ACAA-092B2F6BF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D665B-C39A-A856-57CF-187BB1A49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D5D0E-5527-00DD-DBC7-78FBA9690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EEBA4-7DAC-457F-9919-1737867ACF18}" type="datetime1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D5BAA-D500-7DE4-653A-D0086004D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F5135-1F91-01D7-67A2-CD79037D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506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34D9B-C678-C658-E094-AA311C97E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0A8D3-4AF2-B1A2-DEA0-F28567AA4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D7C53-75A8-44B3-443B-1F8E77868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F12B-ACD0-4B7A-A86E-5BB80DC623F4}" type="datetime1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EF27A-27C6-9194-E898-6422D6C74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07316-1567-A878-F0C3-19B93987D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27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5E430F-30CF-452F-E455-066373C99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D0D1F-F953-60DE-2385-C5AADD617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031F6-3405-A826-1FE6-6CA224A01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94EA9-AC28-4231-BB27-497F97879555}" type="datetime1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348D9-F2BF-849E-CF8E-49367C44E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7C327-C61D-02D2-E88F-E0957BBF7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66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hyperlink" Target="https://claremont.tistory.com/entry/Streamlit-%ED%94%84%EB%A0%88%EC%9E%84%EC%9B%8C%ED%81%AC-%EB%8D%B0%EC%9D%B4%ED%84%B0-%EC%95%A0%ED%94%8C%EB%A6%AC%EC%BC%80%EC%9D%B4%EC%85%98%EC%9D%98-%EA%B0%95%EB%A0%A5%ED%95%9C-%EB%8F%84%EA%B5%AC" TargetMode="External"/><Relationship Id="rId3" Type="http://schemas.openxmlformats.org/officeDocument/2006/relationships/hyperlink" Target="https://codewith.mu/en/tutorials/" TargetMode="External"/><Relationship Id="rId7" Type="http://schemas.openxmlformats.org/officeDocument/2006/relationships/hyperlink" Target="https://hyeong9647.tistory.com/entry/%EB%9D%BC%EB%A7%88-%EC%9D%B8%EB%8D%B1%EC%8A%A4%EC%99%80-%EB%9E%AD%EC%B2%B4%EC%9D%B8-%EC%B0%A8%EC%9D%B4%EC%A0%90" TargetMode="External"/><Relationship Id="rId12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hyperlink" Target="https://blog.keliweb.it/2015/07/come-importare-database-mysql/" TargetMode="External"/><Relationship Id="rId5" Type="http://schemas.openxmlformats.org/officeDocument/2006/relationships/hyperlink" Target="https://damiandeluca.com.ar/" TargetMode="External"/><Relationship Id="rId10" Type="http://schemas.openxmlformats.org/officeDocument/2006/relationships/image" Target="../media/image12.jpg"/><Relationship Id="rId4" Type="http://schemas.openxmlformats.org/officeDocument/2006/relationships/image" Target="../media/image9.jpg"/><Relationship Id="rId9" Type="http://schemas.openxmlformats.org/officeDocument/2006/relationships/hyperlink" Target="https://god-logger.tistory.com/205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45457CB1-AA8C-54BB-115F-DA62F65F0D86}"/>
              </a:ext>
            </a:extLst>
          </p:cNvPr>
          <p:cNvSpPr txBox="1"/>
          <p:nvPr/>
        </p:nvSpPr>
        <p:spPr>
          <a:xfrm>
            <a:off x="515762" y="1072279"/>
            <a:ext cx="11407416" cy="2076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2500" b="1" dirty="0">
                <a:ea typeface="Times New Roman Bold"/>
                <a:cs typeface="Times New Roman Bold"/>
                <a:sym typeface="Times New Roman Bold"/>
              </a:rPr>
              <a:t>Department of Information Science and Engineering </a:t>
            </a:r>
          </a:p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endParaRPr lang="en-US" sz="3000" b="1" dirty="0">
              <a:ea typeface="Times New Roman Bold"/>
              <a:cs typeface="Times New Roman Bold"/>
              <a:sym typeface="Times New Roman Bold"/>
            </a:endParaRPr>
          </a:p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000" b="1" dirty="0"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000" b="1" u="sng" dirty="0">
                <a:ea typeface="Times New Roman Bold"/>
                <a:cs typeface="Times New Roman Bold"/>
                <a:sym typeface="Times New Roman Bold"/>
              </a:rPr>
              <a:t>Adaptive Multi-Agent LLM System for </a:t>
            </a:r>
            <a:r>
              <a:rPr lang="en-IN" sz="3000" b="1" u="sng" dirty="0"/>
              <a:t>Micro-Enterprise Generator</a:t>
            </a:r>
            <a:endParaRPr lang="en-US" sz="3000" b="1" u="sng" dirty="0"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D1A78D2-2F20-8AC6-1D26-ADD7E3D0C72C}"/>
              </a:ext>
            </a:extLst>
          </p:cNvPr>
          <p:cNvSpPr txBox="1"/>
          <p:nvPr/>
        </p:nvSpPr>
        <p:spPr>
          <a:xfrm>
            <a:off x="810730" y="4386192"/>
            <a:ext cx="3593123" cy="2260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u="sng" dirty="0">
                <a:solidFill>
                  <a:srgbClr val="000000"/>
                </a:solidFill>
                <a:ea typeface="DM Sans Bold"/>
                <a:cs typeface="DM Sans Bold"/>
                <a:sym typeface="DM Sans Bold"/>
              </a:rPr>
              <a:t>TEAM MEMBERS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ea typeface="DM Sans Bold"/>
                <a:cs typeface="DM Sans Bold"/>
                <a:sym typeface="DM Sans Bold"/>
              </a:rPr>
              <a:t>Bhoomika N – 4VV23IS038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ea typeface="DM Sans Bold"/>
                <a:cs typeface="DM Sans Bold"/>
                <a:sym typeface="DM Sans Bold"/>
              </a:rPr>
              <a:t>Sanjula S – 4VV23IS194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ea typeface="DM Sans Bold"/>
                <a:cs typeface="DM Sans Bold"/>
                <a:sym typeface="DM Sans Bold"/>
              </a:rPr>
              <a:t>Shreya B J – 4VV23IS207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endParaRPr lang="en-US" sz="2000" dirty="0">
              <a:solidFill>
                <a:srgbClr val="000000"/>
              </a:solidFill>
              <a:ea typeface="DM Sans"/>
              <a:cs typeface="DM Sans"/>
              <a:sym typeface="DM Sans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F4FC5B65-7732-41AB-14CB-F066DE77C55F}"/>
              </a:ext>
            </a:extLst>
          </p:cNvPr>
          <p:cNvSpPr txBox="1"/>
          <p:nvPr/>
        </p:nvSpPr>
        <p:spPr>
          <a:xfrm>
            <a:off x="7904583" y="4386192"/>
            <a:ext cx="3936259" cy="2722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u="sng" dirty="0">
                <a:solidFill>
                  <a:srgbClr val="000000"/>
                </a:solidFill>
                <a:ea typeface="DM Sans Bold"/>
                <a:cs typeface="DM Sans Bold"/>
                <a:sym typeface="DM Sans Bold"/>
              </a:rPr>
              <a:t>UNDER THE GUIDANCE OF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ea typeface="DM Sans"/>
                <a:cs typeface="DM Sans"/>
                <a:sym typeface="DM Sans"/>
              </a:rPr>
              <a:t>Prof Aishwarya T 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ea typeface="DM Sans"/>
                <a:cs typeface="DM Sans"/>
                <a:sym typeface="DM Sans"/>
              </a:rPr>
              <a:t>Assistant Professor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ea typeface="DM Sans"/>
                <a:cs typeface="DM Sans"/>
                <a:sym typeface="DM Sans"/>
              </a:rPr>
              <a:t> Dept. of ISE, VVCE</a:t>
            </a:r>
          </a:p>
          <a:p>
            <a:pPr algn="ctr">
              <a:lnSpc>
                <a:spcPct val="150000"/>
              </a:lnSpc>
            </a:pPr>
            <a:endParaRPr lang="en-US" sz="2000" dirty="0">
              <a:solidFill>
                <a:srgbClr val="000000"/>
              </a:solidFill>
              <a:ea typeface="DM Sans"/>
              <a:cs typeface="DM Sans"/>
              <a:sym typeface="DM Sans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endParaRPr lang="en-US" sz="2000" dirty="0">
              <a:solidFill>
                <a:srgbClr val="000000"/>
              </a:solidFill>
              <a:ea typeface="DM Sans"/>
              <a:cs typeface="DM Sans"/>
              <a:sym typeface="DM Sans"/>
            </a:endParaRP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FBDB36BB-AE9A-D5FE-2ED7-91F965F77293}"/>
              </a:ext>
            </a:extLst>
          </p:cNvPr>
          <p:cNvSpPr/>
          <p:nvPr/>
        </p:nvSpPr>
        <p:spPr>
          <a:xfrm>
            <a:off x="515762" y="211189"/>
            <a:ext cx="9422108" cy="1566027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637" r="-18527" b="-15050"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C668AD-D259-3337-EEF8-21FABC070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050" y="127594"/>
            <a:ext cx="1552792" cy="155279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DA7D7F-BE4F-B6C7-4A79-EBBE5B5C9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558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BA3A6-0369-41C0-E1C2-2B10437C4D00}"/>
              </a:ext>
            </a:extLst>
          </p:cNvPr>
          <p:cNvSpPr/>
          <p:nvPr/>
        </p:nvSpPr>
        <p:spPr>
          <a:xfrm>
            <a:off x="617220" y="356633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38C91DC7-083E-33E3-EC92-349D9053292E}"/>
              </a:ext>
            </a:extLst>
          </p:cNvPr>
          <p:cNvSpPr txBox="1"/>
          <p:nvPr/>
        </p:nvSpPr>
        <p:spPr>
          <a:xfrm>
            <a:off x="746760" y="238884"/>
            <a:ext cx="9734181" cy="8856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4000" b="1" dirty="0">
                <a:solidFill>
                  <a:srgbClr val="227C9D"/>
                </a:solidFill>
                <a:ea typeface="Times New Roman Bold"/>
                <a:cs typeface="Times New Roman Bold"/>
                <a:sym typeface="Times New Roman Bold"/>
              </a:rPr>
              <a:t>    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BCF83-A8B0-FC52-399A-937C6AF7491A}"/>
              </a:ext>
            </a:extLst>
          </p:cNvPr>
          <p:cNvSpPr txBox="1"/>
          <p:nvPr/>
        </p:nvSpPr>
        <p:spPr>
          <a:xfrm>
            <a:off x="579120" y="1763395"/>
            <a:ext cx="113385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Many </a:t>
            </a:r>
            <a:r>
              <a:rPr lang="en-US" sz="2500" b="1" dirty="0"/>
              <a:t>rural and semi-urban women </a:t>
            </a:r>
            <a:r>
              <a:rPr lang="en-US" sz="2500" dirty="0"/>
              <a:t>are actively involved in </a:t>
            </a:r>
            <a:r>
              <a:rPr lang="en-US" sz="2500" b="1" dirty="0"/>
              <a:t>daily </a:t>
            </a:r>
          </a:p>
          <a:p>
            <a:r>
              <a:rPr lang="en-US" sz="2500" b="1" dirty="0"/>
              <a:t>productive activities </a:t>
            </a:r>
            <a:r>
              <a:rPr lang="en-US" sz="2500" dirty="0"/>
              <a:t>such as cooking, farming, stitching, and </a:t>
            </a:r>
          </a:p>
          <a:p>
            <a:r>
              <a:rPr lang="en-US" sz="2500" dirty="0"/>
              <a:t>small-scale trading. </a:t>
            </a:r>
          </a:p>
          <a:p>
            <a:endParaRPr lang="en-US" sz="2500" dirty="0"/>
          </a:p>
          <a:p>
            <a:r>
              <a:rPr lang="en-US" sz="2500" dirty="0"/>
              <a:t>However, these efforts often remain </a:t>
            </a:r>
            <a:r>
              <a:rPr lang="en-US" sz="2500" b="1" dirty="0"/>
              <a:t>informal and unstructured</a:t>
            </a:r>
            <a:r>
              <a:rPr lang="en-US" sz="2500" dirty="0"/>
              <a:t>, </a:t>
            </a:r>
          </a:p>
          <a:p>
            <a:r>
              <a:rPr lang="en-US" sz="2500" dirty="0"/>
              <a:t>and are not converted into consistent or scalable income sources. </a:t>
            </a:r>
          </a:p>
          <a:p>
            <a:endParaRPr lang="en-US" sz="2500" dirty="0"/>
          </a:p>
          <a:p>
            <a:r>
              <a:rPr lang="en-US" sz="2500" dirty="0"/>
              <a:t>The </a:t>
            </a:r>
            <a:r>
              <a:rPr lang="en-US" sz="2500" b="1" dirty="0"/>
              <a:t>key gaps </a:t>
            </a:r>
            <a:r>
              <a:rPr lang="en-US" sz="2500" dirty="0"/>
              <a:t>include: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Lack of real-time, actionable guidance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Limited business awareness and market insights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Absence of continuous support for growth and </a:t>
            </a:r>
          </a:p>
          <a:p>
            <a:pPr lvl="1"/>
            <a:r>
              <a:rPr lang="en-US" sz="2500" dirty="0"/>
              <a:t>    improvement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FE3E75-DF59-659B-796A-28EF1817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4133" y="1763395"/>
            <a:ext cx="1862217" cy="1752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D4F6CB-5EB3-5771-FE54-6A2FF6AC3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133" y="5744169"/>
            <a:ext cx="1882547" cy="8192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B5DE44-F085-23C5-7B7E-185CCC919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133" y="3857660"/>
            <a:ext cx="1882547" cy="17102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96C61-D86A-924A-BF7C-BB1261EAF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006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3EB7B2-0767-D50D-63B0-5A305A85E6F6}"/>
              </a:ext>
            </a:extLst>
          </p:cNvPr>
          <p:cNvSpPr/>
          <p:nvPr/>
        </p:nvSpPr>
        <p:spPr>
          <a:xfrm>
            <a:off x="617220" y="230188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6FB093-2738-9930-4098-34F606466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solidFill>
                  <a:srgbClr val="227C9D"/>
                </a:solidFill>
                <a:latin typeface="+mn-lt"/>
                <a:ea typeface="Times New Roman Bold"/>
                <a:cs typeface="Times New Roman Bold"/>
                <a:sym typeface="Times New Roman Bold"/>
              </a:rPr>
              <a:t>Problem Statement</a:t>
            </a:r>
            <a:br>
              <a:rPr lang="en-US" sz="4400" b="1" dirty="0">
                <a:solidFill>
                  <a:srgbClr val="227C9D"/>
                </a:solidFill>
                <a:latin typeface="+mn-lt"/>
                <a:ea typeface="Times New Roman Bold"/>
                <a:cs typeface="Times New Roman Bold"/>
                <a:sym typeface="Times New Roman Bold"/>
              </a:rPr>
            </a:b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7716B-E35A-4BE3-479B-CB338CF71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8" y="158965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b="1" dirty="0"/>
              <a:t>Existing solutions focus 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Training-based approaches that are not real-time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Static guidance with no continuous improvement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Generic recommendations lacking personalization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500" dirty="0"/>
          </a:p>
          <a:p>
            <a:pPr marL="0" indent="0">
              <a:buNone/>
            </a:pPr>
            <a:r>
              <a:rPr lang="en-US" sz="2500" b="1" dirty="0"/>
              <a:t>Current AI systems also have limitations: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Generate repetitive and generic suggestions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Fail to track user progress over 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Lose context across multiple interactions and languages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500" dirty="0"/>
          </a:p>
          <a:p>
            <a:pPr marL="0" indent="0">
              <a:buNone/>
            </a:pPr>
            <a:r>
              <a:rPr lang="en-US" sz="2500" dirty="0"/>
              <a:t>This leads to a gap between user effort and sustainable income generation</a:t>
            </a:r>
          </a:p>
          <a:p>
            <a:endParaRPr lang="en-IN" sz="25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D4EEB-DB08-7187-A015-214BDCEB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425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01AB09-A45C-1C50-E1BB-3CBFA04C8026}"/>
              </a:ext>
            </a:extLst>
          </p:cNvPr>
          <p:cNvSpPr/>
          <p:nvPr/>
        </p:nvSpPr>
        <p:spPr>
          <a:xfrm>
            <a:off x="579120" y="365125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92F3E-E7D2-0286-825C-54AE379D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OBJECTIVES 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A4AA2-0948-011C-41F2-CF5E25644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8269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/>
              <a:t>A voice-driven AI system</a:t>
            </a:r>
            <a:r>
              <a:rPr lang="en-US" sz="2500" dirty="0"/>
              <a:t> designed for accessibility and ease of use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Converts daily activities into structured income opportunities </a:t>
            </a:r>
          </a:p>
          <a:p>
            <a:pPr marL="0" indent="0">
              <a:buNone/>
            </a:pPr>
            <a:r>
              <a:rPr lang="en-US" sz="2500" b="1" dirty="0"/>
              <a:t>Provides: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Actionable business ideas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Continuous growth and improvement suggestions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Simple financial insights and ROI guidance </a:t>
            </a:r>
          </a:p>
          <a:p>
            <a:pPr marL="0" indent="0">
              <a:buNone/>
            </a:pPr>
            <a:r>
              <a:rPr lang="en-US" sz="2500" b="1" dirty="0"/>
              <a:t>Ensures: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Adaptive recommendations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Progressive evolution of micro-businesses over time </a:t>
            </a:r>
          </a:p>
          <a:p>
            <a:endParaRPr lang="en-IN" sz="2500" dirty="0"/>
          </a:p>
          <a:p>
            <a:endParaRPr lang="en-IN" sz="2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0B2EB5-D60C-F096-0EDC-97A4F934A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435" y="2830010"/>
            <a:ext cx="3379365" cy="219977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44E1A-E741-5893-8430-7ADCC84AB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710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C7F05F-9EF7-9F52-4D71-B166E69080E6}"/>
              </a:ext>
            </a:extLst>
          </p:cNvPr>
          <p:cNvSpPr/>
          <p:nvPr/>
        </p:nvSpPr>
        <p:spPr>
          <a:xfrm>
            <a:off x="579120" y="365125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869173-7044-7200-58A4-7A429536A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MOTIVATION 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D523976-F849-CA45-D815-55E5C2B940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1514" y="1333185"/>
            <a:ext cx="11128971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Many women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have skills and are productive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daily but lack ways to convert them into sustainable income.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Existing support systems are: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Fragmented (training, loans, schemes disconnected)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 continuous (no day-to-day guidance)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Hard to access for low-literacy users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 advancements create an opportunity to: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 real-time, personalized guidance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 self-driven growth without dependency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272703-EFDC-F637-C655-E37042B76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4724" y="2442653"/>
            <a:ext cx="3133412" cy="329039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32E9A3-9211-1E5D-9970-A622FDDB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114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EA938DE-B7C6-90B0-78C0-CB8A1483E218}"/>
              </a:ext>
            </a:extLst>
          </p:cNvPr>
          <p:cNvSpPr/>
          <p:nvPr/>
        </p:nvSpPr>
        <p:spPr>
          <a:xfrm>
            <a:off x="579120" y="365125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EE9C3-6C44-12DD-23B0-C30248F0D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Technology stack 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93D9A-D1D6-894C-0566-52DA9BB9F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500" b="1" dirty="0"/>
              <a:t>Backend and application logic: </a:t>
            </a:r>
            <a:r>
              <a:rPr lang="en-US" sz="2500" dirty="0"/>
              <a:t>Python, Flask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500" b="1" dirty="0"/>
              <a:t>Multi-agent orchestration: </a:t>
            </a:r>
            <a:r>
              <a:rPr lang="en-US" sz="2500" dirty="0" err="1"/>
              <a:t>Langchain</a:t>
            </a:r>
            <a:r>
              <a:rPr lang="en-US" sz="2500" dirty="0"/>
              <a:t>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IN" sz="2500" b="1" dirty="0"/>
              <a:t>LLM Layer</a:t>
            </a:r>
            <a:r>
              <a:rPr lang="en-IN" sz="2500" dirty="0"/>
              <a:t>: Gemini/ </a:t>
            </a:r>
            <a:r>
              <a:rPr lang="en-IN" sz="2500" dirty="0" err="1"/>
              <a:t>Groq</a:t>
            </a:r>
            <a:r>
              <a:rPr lang="en-IN" sz="2500" dirty="0"/>
              <a:t> API, LLaMA3 for fallback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IN" sz="2500" b="1" dirty="0"/>
              <a:t>Memory and context management</a:t>
            </a:r>
            <a:r>
              <a:rPr lang="en-IN" sz="2500" dirty="0"/>
              <a:t>: MySQL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IN" sz="2500" b="1" dirty="0"/>
              <a:t>Cross-lingual support: </a:t>
            </a:r>
            <a:r>
              <a:rPr lang="en-IN" sz="2500" dirty="0"/>
              <a:t>Google translate API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IN" sz="2500" b="1" dirty="0"/>
              <a:t>Frontend (user interaction layer):</a:t>
            </a:r>
            <a:r>
              <a:rPr lang="en-IN" sz="2500" dirty="0"/>
              <a:t> </a:t>
            </a:r>
            <a:r>
              <a:rPr lang="en-IN" sz="2500" dirty="0" err="1"/>
              <a:t>Streamlit</a:t>
            </a:r>
            <a:r>
              <a:rPr lang="en-IN" sz="2500" dirty="0"/>
              <a:t>, voice support –&gt; speech-to-text and text-speech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33F98F6-0E84-D383-631A-69A65F562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9538" r="19331"/>
          <a:stretch/>
        </p:blipFill>
        <p:spPr>
          <a:xfrm>
            <a:off x="8855340" y="1609530"/>
            <a:ext cx="847166" cy="8783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3DF7065-EDA9-7B3E-D356-810ACC8C10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436130" y="1651057"/>
            <a:ext cx="847166" cy="84716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BA8B319-FB5D-9628-F888-CFA7A9FA6A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7458" r="52255"/>
          <a:stretch/>
        </p:blipFill>
        <p:spPr>
          <a:xfrm>
            <a:off x="8863893" y="2604659"/>
            <a:ext cx="880783" cy="71447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6F31D27-1BE1-8E3D-CCCB-028CA7BAFA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0522187" y="2487880"/>
            <a:ext cx="795889" cy="100812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AEE6915-ADE8-5735-5D92-C4298279A5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8448402" y="3559557"/>
            <a:ext cx="1711763" cy="71447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86DD583-9D6E-1BFA-C0BB-53031CC1692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rcRect l="17211" r="14714"/>
          <a:stretch/>
        </p:blipFill>
        <p:spPr>
          <a:xfrm>
            <a:off x="10436130" y="3383462"/>
            <a:ext cx="1394014" cy="10666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62075-52D4-568E-21C5-FF815F71A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225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74669BCC-8771-0A05-1689-E600D2EA85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3401" y="1262648"/>
            <a:ext cx="11661905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Research Questions:</a:t>
            </a:r>
            <a:endParaRPr kumimoji="0" lang="en-US" altLang="en-US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Does multi-agent architecture outperform a single LLM for structured recommendations?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Can context memory reduce repetition in iterative interactions?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Does the system improve recommendations progressively over time?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Can context be retained across language switches (cross-lingual consistency)?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Hypothesis: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Multi-agent systems → more structured &amp; diverse outputs than single LLMs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Cross-lingual normalization → consistent context retention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Iterative evolution → progressive improvement in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00C3F0-805C-D307-F621-E908D691CE74}"/>
              </a:ext>
            </a:extLst>
          </p:cNvPr>
          <p:cNvSpPr/>
          <p:nvPr/>
        </p:nvSpPr>
        <p:spPr>
          <a:xfrm>
            <a:off x="532381" y="199010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5">
                    <a:lumMod val="75000"/>
                  </a:schemeClr>
                </a:solidFill>
              </a:rPr>
              <a:t>RESEARCH ELEMENT </a:t>
            </a:r>
            <a:endParaRPr lang="en-IN" sz="4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EB3FB9-9EB1-AE45-B01E-26B0ABF00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442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57F0-4B12-28C4-B09D-224F791E8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F850B06-3381-CFB6-A073-B33CCC1AC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413" y="2076261"/>
            <a:ext cx="5563376" cy="2705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615BD5-B52B-F841-12A9-8B282AF28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213" y="2076262"/>
            <a:ext cx="5578813" cy="270547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C5EB6E-073F-D7AE-32FD-5002DF6E9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208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941A19-4334-62D8-430E-0BDB56863D36}"/>
              </a:ext>
            </a:extLst>
          </p:cNvPr>
          <p:cNvSpPr/>
          <p:nvPr/>
        </p:nvSpPr>
        <p:spPr>
          <a:xfrm>
            <a:off x="579120" y="365125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4383EB-101B-B8EB-16D7-A2EAB2101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SCOPE 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D0AB3-4605-AD38-76D5-68481761D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664" y="1863332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Rural and semi-urban entrepreneurship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Support for low-literacy users through voice interaction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Application in: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500" dirty="0"/>
              <a:t>NGOs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500" dirty="0"/>
              <a:t>Self-Help Groups (SHGs)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500" dirty="0"/>
              <a:t>Government programs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/>
              <a:t>Scalable across regions and languages</a:t>
            </a:r>
          </a:p>
          <a:p>
            <a:endParaRPr lang="en-IN" sz="2500" dirty="0"/>
          </a:p>
          <a:p>
            <a:endParaRPr lang="en-IN" sz="25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7CD3C-30D2-7419-CD4D-BFFBFA7F5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968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5CB71E-AD1F-BD84-4084-C5CD6AB09B5F}"/>
              </a:ext>
            </a:extLst>
          </p:cNvPr>
          <p:cNvSpPr/>
          <p:nvPr/>
        </p:nvSpPr>
        <p:spPr>
          <a:xfrm>
            <a:off x="579120" y="365125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DCB82-FDFB-8AE8-AABB-18C19C373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NOVELTY 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434ABA5-325C-864A-98DA-6BA7ECE9D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70248"/>
          <a:stretch/>
        </p:blipFill>
        <p:spPr bwMode="auto">
          <a:xfrm>
            <a:off x="1325983" y="1791898"/>
            <a:ext cx="4251150" cy="1466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CA226F-9A80-7FEF-7BB5-2555D7E15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173" y="1993847"/>
            <a:ext cx="3382469" cy="3526744"/>
          </a:xfrm>
          <a:prstGeom prst="rect">
            <a:avLst/>
          </a:prstGeom>
        </p:spPr>
      </p:pic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807FB9B3-CE7C-FEC2-6630-AE01ABD236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783"/>
          <a:stretch/>
        </p:blipFill>
        <p:spPr bwMode="auto">
          <a:xfrm>
            <a:off x="1380042" y="3599376"/>
            <a:ext cx="4251150" cy="2130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D38429-0B1E-19A7-BB3C-4AAB33AD6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391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E6E5D95-A546-F85F-A2CA-535132E1739E}"/>
              </a:ext>
            </a:extLst>
          </p:cNvPr>
          <p:cNvSpPr/>
          <p:nvPr/>
        </p:nvSpPr>
        <p:spPr>
          <a:xfrm>
            <a:off x="579120" y="365125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19E08B-7F8F-4711-8996-B41642A9A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CHALLENGES 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949E571-BD73-0D4B-59DD-9BBA0DE21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985" y="1737995"/>
            <a:ext cx="10141830" cy="475488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BB8EBB-34C5-78D7-B9B1-E21571D8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713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76021-CC5D-DA22-3F9C-5BE2BF546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500" b="1" dirty="0">
                <a:solidFill>
                  <a:schemeClr val="accent5">
                    <a:lumMod val="75000"/>
                  </a:schemeClr>
                </a:solidFill>
              </a:rPr>
              <a:t>THANK YOU </a:t>
            </a:r>
            <a:endParaRPr lang="en-IN" sz="7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CC647C-720B-8E5E-0151-EEFFEE357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902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455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DM Sans</vt:lpstr>
      <vt:lpstr>DM Sans Bold</vt:lpstr>
      <vt:lpstr>Times New Roman Bold</vt:lpstr>
      <vt:lpstr>Wingdings</vt:lpstr>
      <vt:lpstr>Office Theme</vt:lpstr>
      <vt:lpstr>PowerPoint Presentation</vt:lpstr>
      <vt:lpstr>PowerPoint Presentation</vt:lpstr>
      <vt:lpstr>Problem Statement </vt:lpstr>
      <vt:lpstr>OBJECTIVES </vt:lpstr>
      <vt:lpstr>MOTIVATION </vt:lpstr>
      <vt:lpstr>Technology stack </vt:lpstr>
      <vt:lpstr>PowerPoint Presentation</vt:lpstr>
      <vt:lpstr>PowerPoint Presentation</vt:lpstr>
      <vt:lpstr>SCOPE </vt:lpstr>
      <vt:lpstr>NOVELTY </vt:lpstr>
      <vt:lpstr>CHALLENGES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Sanjula Sudhindra</dc:creator>
  <cp:lastModifiedBy>Sanjula Sudhindra</cp:lastModifiedBy>
  <cp:revision>6</cp:revision>
  <dcterms:created xsi:type="dcterms:W3CDTF">2026-04-20T17:01:55Z</dcterms:created>
  <dcterms:modified xsi:type="dcterms:W3CDTF">2026-04-25T16:48:40Z</dcterms:modified>
</cp:coreProperties>
</file>